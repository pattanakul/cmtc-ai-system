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eec6baea44ed5" /><Relationship Type="http://schemas.openxmlformats.org/officeDocument/2006/relationships/extended-properties" Target="/docProps/app.xml" Id="R94a8993c25f24ccd" /><Relationship Type="http://schemas.openxmlformats.org/officeDocument/2006/relationships/officeDocument" Target="/ppt/presentation.xml" Id="R72b76567e959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1160674c6540ba"/>
  </p:sldMasterIdLst>
  <p:notesMasterIdLst>
    <p:notesMasterId xmlns:r="http://schemas.openxmlformats.org/officeDocument/2006/relationships" r:id="R87df63d77d7948ad"/>
  </p:notesMasterIdLst>
  <p:sldIdLst>
    <p:sldId xmlns:r="http://schemas.openxmlformats.org/officeDocument/2006/relationships" id="256" r:id="R3307dfa265834bda"/>
    <p:sldId xmlns:r="http://schemas.openxmlformats.org/officeDocument/2006/relationships" id="257" r:id="R454c73cffb62422d"/>
    <p:sldId xmlns:r="http://schemas.openxmlformats.org/officeDocument/2006/relationships" id="258" r:id="Rc21c0ef35cfb4592"/>
    <p:sldId xmlns:r="http://schemas.openxmlformats.org/officeDocument/2006/relationships" id="259" r:id="R12b1e83b53bc4ff4"/>
    <p:sldId xmlns:r="http://schemas.openxmlformats.org/officeDocument/2006/relationships" id="260" r:id="R4360c493e8e24a37"/>
    <p:sldId xmlns:r="http://schemas.openxmlformats.org/officeDocument/2006/relationships" id="261" r:id="Rb48e2c6096724500"/>
    <p:sldId xmlns:r="http://schemas.openxmlformats.org/officeDocument/2006/relationships" id="262" r:id="Rea88bcfb618649b4"/>
    <p:sldId xmlns:r="http://schemas.openxmlformats.org/officeDocument/2006/relationships" id="263" r:id="R5f93807ffb8c4312"/>
    <p:sldId xmlns:r="http://schemas.openxmlformats.org/officeDocument/2006/relationships" id="264" r:id="Rff9839813ea7490d"/>
    <p:sldId xmlns:r="http://schemas.openxmlformats.org/officeDocument/2006/relationships" id="265" r:id="Rfe6f9f92ff7444c6"/>
    <p:sldId xmlns:r="http://schemas.openxmlformats.org/officeDocument/2006/relationships" id="266" r:id="R9ce1f16c6f4c40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db8429c1ca4425" /><Relationship Type="http://schemas.openxmlformats.org/officeDocument/2006/relationships/slideMaster" Target="/ppt/slideMasters/slideMaster1.xml" Id="Reb1160674c6540ba" /><Relationship Type="http://schemas.openxmlformats.org/officeDocument/2006/relationships/notesMaster" Target="/ppt/notesMasters/notesMaster1.xml" Id="R87df63d77d7948ad" /><Relationship Type="http://schemas.openxmlformats.org/officeDocument/2006/relationships/presProps" Target="/ppt/presProps.xml" Id="Re757989fb7a94743" /><Relationship Type="http://schemas.openxmlformats.org/officeDocument/2006/relationships/viewProps" Target="/ppt/viewProps.xml" Id="Rf6819a9a0f234a94" /><Relationship Type="http://schemas.openxmlformats.org/officeDocument/2006/relationships/tableStyles" Target="/ppt/tableStyles.xml" Id="R2962fc541cdb4829" /><Relationship Type="http://schemas.openxmlformats.org/officeDocument/2006/relationships/slide" Target="/ppt/slides/slide1.xml" Id="R3307dfa265834bda" /><Relationship Type="http://schemas.openxmlformats.org/officeDocument/2006/relationships/slide" Target="/ppt/slides/slide2.xml" Id="R454c73cffb62422d" /><Relationship Type="http://schemas.openxmlformats.org/officeDocument/2006/relationships/slide" Target="/ppt/slides/slide3.xml" Id="Rc21c0ef35cfb4592" /><Relationship Type="http://schemas.openxmlformats.org/officeDocument/2006/relationships/slide" Target="/ppt/slides/slide4.xml" Id="R12b1e83b53bc4ff4" /><Relationship Type="http://schemas.openxmlformats.org/officeDocument/2006/relationships/slide" Target="/ppt/slides/slide5.xml" Id="R4360c493e8e24a37" /><Relationship Type="http://schemas.openxmlformats.org/officeDocument/2006/relationships/slide" Target="/ppt/slides/slide6.xml" Id="Rb48e2c6096724500" /><Relationship Type="http://schemas.openxmlformats.org/officeDocument/2006/relationships/slide" Target="/ppt/slides/slide7.xml" Id="Rea88bcfb618649b4" /><Relationship Type="http://schemas.openxmlformats.org/officeDocument/2006/relationships/slide" Target="/ppt/slides/slide8.xml" Id="R5f93807ffb8c4312" /><Relationship Type="http://schemas.openxmlformats.org/officeDocument/2006/relationships/slide" Target="/ppt/slides/slide9.xml" Id="Rff9839813ea7490d" /><Relationship Type="http://schemas.openxmlformats.org/officeDocument/2006/relationships/slide" Target="/ppt/slides/slide10.xml" Id="Rfe6f9f92ff7444c6" /><Relationship Type="http://schemas.openxmlformats.org/officeDocument/2006/relationships/slide" Target="/ppt/slides/slide11.xml" Id="R9ce1f16c6f4c40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87d963357c41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ba60370c64da8" /><Relationship Type="http://schemas.openxmlformats.org/officeDocument/2006/relationships/notesMaster" Target="/ppt/notesMasters/notesMaster1.xml" Id="R4672939a99ee4b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62720c569642e5" /><Relationship Type="http://schemas.openxmlformats.org/officeDocument/2006/relationships/notesMaster" Target="/ppt/notesMasters/notesMaster1.xml" Id="R52efe90857f24f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ad2d1adf5d481d" /><Relationship Type="http://schemas.openxmlformats.org/officeDocument/2006/relationships/notesMaster" Target="/ppt/notesMasters/notesMaster1.xml" Id="Rc9c2272082224e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43e5ba8264e17" /><Relationship Type="http://schemas.openxmlformats.org/officeDocument/2006/relationships/notesMaster" Target="/ppt/notesMasters/notesMaster1.xml" Id="R41c29090aa5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ec292c7baf4e85" /><Relationship Type="http://schemas.openxmlformats.org/officeDocument/2006/relationships/notesMaster" Target="/ppt/notesMasters/notesMaster1.xml" Id="Rb1ff51d962de45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1ec6b10e96437d" /><Relationship Type="http://schemas.openxmlformats.org/officeDocument/2006/relationships/notesMaster" Target="/ppt/notesMasters/notesMaster1.xml" Id="Rdf7ceb6fac684b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3f292b2e6f402d" /><Relationship Type="http://schemas.openxmlformats.org/officeDocument/2006/relationships/notesMaster" Target="/ppt/notesMasters/notesMaster1.xml" Id="R34917e305277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667f7c906e420b" /><Relationship Type="http://schemas.openxmlformats.org/officeDocument/2006/relationships/notesMaster" Target="/ppt/notesMasters/notesMaster1.xml" Id="R2c7712e4608f40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402b9d5204704" /><Relationship Type="http://schemas.openxmlformats.org/officeDocument/2006/relationships/notesMaster" Target="/ppt/notesMasters/notesMaster1.xml" Id="R9f8ca38e8939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8c0b8571a4c07" /><Relationship Type="http://schemas.openxmlformats.org/officeDocument/2006/relationships/notesMaster" Target="/ppt/notesMasters/notesMaster1.xml" Id="R34444926bffb4d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3d3c2708654b4c" /><Relationship Type="http://schemas.openxmlformats.org/officeDocument/2006/relationships/notesMaster" Target="/ppt/notesMasters/notesMaster1.xml" Id="R0cc7b93280d54a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1175e012d43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150c3c92b4f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183654-287F-45FF-8B8B-857D3228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D5E97F8-336E-4DCE-A8F4-B2D4111E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0528"/>
            <a:ext cx="6766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โครงการ 1 | การนำเสนอผลการดำเนินงาน 100%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7C17E-E6CB-4BDA-A557-444D95BC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6510528"/>
            <a:ext cx="2194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rPr>
              <a:t>วิทยาลัยเทคนิคเชียงใหม่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B2A01E1-3629-4231-9761-41824C36CC2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188b487904d8d" /><Relationship Type="http://schemas.openxmlformats.org/officeDocument/2006/relationships/slideLayout" Target="/ppt/slideLayouts/slideLayout1.xml" Id="Rb04a82ada84b4d36" /><Relationship Type="http://schemas.openxmlformats.org/officeDocument/2006/relationships/slideLayout" Target="/ppt/slideLayouts/slideLayout2.xml" Id="Rce233f7bd16344c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3CC9161-0073-47A6-81EB-0EA0AF60585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4a82ada84b4d36"/>
    <p:sldLayoutId xmlns:r="http://schemas.openxmlformats.org/officeDocument/2006/relationships" id="2147483650" r:id="Rce233f7bd16344c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f9587bf754e33" /><Relationship Type="http://schemas.openxmlformats.org/officeDocument/2006/relationships/notesSlide" Target="/ppt/notesSlides/notesSlide1.xml" Id="R8543e779e324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4ff0d3c14ee2" /><Relationship Type="http://schemas.openxmlformats.org/officeDocument/2006/relationships/notesSlide" Target="/ppt/notesSlides/notesSlide2.xml" Id="R04acf579bb0c41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3a04b53cd44409" /><Relationship Type="http://schemas.openxmlformats.org/officeDocument/2006/relationships/notesSlide" Target="/ppt/notesSlides/notesSlide3.xml" Id="R79bb2fd2271949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173bc747884214" /><Relationship Type="http://schemas.openxmlformats.org/officeDocument/2006/relationships/notesSlide" Target="/ppt/notesSlides/notesSlide4.xml" Id="R2f52f2d28e8d4a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da0b986a0d44dc" /><Relationship Type="http://schemas.openxmlformats.org/officeDocument/2006/relationships/notesSlide" Target="/ppt/notesSlides/notesSlide5.xml" Id="Rd67be9d15413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05222547a5465c" /><Relationship Type="http://schemas.openxmlformats.org/officeDocument/2006/relationships/notesSlide" Target="/ppt/notesSlides/notesSlide6.xml" Id="Re2c5d09e319f4a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029a69549d464e" /><Relationship Type="http://schemas.openxmlformats.org/officeDocument/2006/relationships/notesSlide" Target="/ppt/notesSlides/notesSlide7.xml" Id="Rd2e894f040cd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405447e2ba4e62" /><Relationship Type="http://schemas.openxmlformats.org/officeDocument/2006/relationships/notesSlide" Target="/ppt/notesSlides/notesSlide8.xml" Id="Raaae2237bb8a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a1f8dcd944efc" /><Relationship Type="http://schemas.openxmlformats.org/officeDocument/2006/relationships/notesSlide" Target="/ppt/notesSlides/notesSlide9.xml" Id="R89d1f11e53204c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a0b969485348f4" /><Relationship Type="http://schemas.openxmlformats.org/officeDocument/2006/relationships/notesSlide" Target="/ppt/notesSlides/notesSlide10.xml" Id="R9bf6724b74994f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ac05241568483b" /><Relationship Type="http://schemas.openxmlformats.org/officeDocument/2006/relationships/notesSlide" Target="/ppt/notesSlides/notesSlide11.xml" Id="R9e48ebbb84eb4e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A5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9C5523C-AF54-4F5E-A398-C46498F4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12700">
            <a:solidFill>
              <a:srgbClr val="163A5F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BD7F0E-40CA-4B5A-8718-1D0FD75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0">
            <a:off x="7955280" y="-914400"/>
            <a:ext cx="5120640" cy="512064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D4D74">
              <a:alpha val="88000"/>
            </a:srgbClr>
          </a:solidFill>
          <a:ln xmlns:a="http://schemas.openxmlformats.org/drawingml/2006/main" w="12700">
            <a:solidFill>
              <a:srgbClr val="1D4D7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6DA2DC-81D5-4ED2-B9FB-D567D66F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0">
            <a:off x="8686800" y="3108960"/>
            <a:ext cx="3840480" cy="38404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1F8A8A">
              <a:alpha val="82000"/>
            </a:srgbClr>
          </a:solidFill>
          <a:ln xmlns:a="http://schemas.openxmlformats.org/drawingml/2006/main" w="12700">
            <a:solidFill>
              <a:srgbClr val="1F8A8A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EBD1DC-F066-4C99-B137-C4612C5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51560"/>
            <a:ext cx="749808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รายงานสรุปผลโครงงาน 1</a:t>
            </a:r>
            <a:endParaRPr sz="3200"/>
          </a:p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ระดับความคืบหน้า 100%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946EE22-4B1D-4F46-9842-E2C972AD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578608"/>
            <a:ext cx="7040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DCEAF4"/>
                </a:solidFill>
                <a:latin typeface="Noto Sans Thai"/>
                <a:ea typeface="Noto Sans Thai"/>
                <a:cs typeface="Noto Sans Thai"/>
              </a:rPr>
              <a:t>ระบบจัดการข้อมูลและองค์ความรู้ด้วยปัญญาประดิษฐ์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BDD7844-9CCC-4C21-9175-AE01A79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6976"/>
            <a:ext cx="6309360" cy="1325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68BE88-0C2A-4425-A5F9-38F83C0D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56432"/>
            <a:ext cx="5806440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18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ชื่อโครงงาน : ระบบจัดการข้อมูลและองค์ความรู้ด้วยปัญญาประดิษฐ์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(CMTC AI Knowledge Management System)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ผู้จัดทำ : นายพัฒนกุล เทปิน 68409010013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อาจารย์ที่ปรึกษา : นายอนุชาติ รังสิยานนท์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1687F5-B10E-4E1C-9F25-C4513A0B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016752"/>
            <a:ext cx="10698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FE1EE"/>
                </a:solidFill>
                <a:latin typeface="Noto Sans Thai"/>
                <a:ea typeface="Noto Sans Thai"/>
                <a:cs typeface="Noto Sans Thai"/>
              </a:rPr>
              <a:t>การประเมินโครงการ 1 | แสดงผลงานที่พัฒนาเสร็จสมบูรณ์และพร้อมสาธิตการใช้งาน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364799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19798CB-E96A-48F9-A235-4EC2D3BF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1. ปัญหา ที่มา และเป้าหมายของโครงงาน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C004C5A-4515-453C-B618-9952F55B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โครงงานนี้ช่วยให้ผู้ปกครอง นักศึกษา และบุคลากรเข้าถึงข้อมูลของวิทยาลัยได้สะดวกขึ้น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EC6B7F-9922-4715-950B-215C08BB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A797214-830C-4CE7-9113-F92F9DC2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949"/>
          </a:solidFill>
          <a:ln xmlns:a="http://schemas.openxmlformats.org/drawingml/2006/main" w="12700">
            <a:solidFill>
              <a:srgbClr val="B64949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51CB52-6985-495E-B6F6-D68298B0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ปัญหา / ความจำเป็น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2F2AF50-EC75-49DF-8747-DB335300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ผู้ปกครองและนักศึกษาถามข้อมูลผ่านเจ้าหน้าที่ แต่ข้อมูลกระจายหลายแหล่ง จึงตอบได้ล่าช้า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บางคำถามเข้ามานอกเวลาทำการ ทำให้เจ้าหน้าที่ไม่สามารถตรวจสอบและตอบกลับได้ทันที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C59AC74-F25B-4EA0-A5D7-DD3E62AB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0E65995-6FA8-4BC7-A99B-AD92B0B0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E016D54-3B72-4F13-B730-A8C962E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วัตถุประสงค์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B59B16-E77E-4AC8-9FAA-76DA5E0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1. รวมข้อมูลสำคัญของวิทยาลัยไว้ในระบบกลาง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2. ใช้ AI ช่วยค้นหาและตอบคำถามได้ตลอดเวลา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3. กำหนดสิทธิ์ตามบทบาทผู้ใช้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61A0A15-7873-466F-ABF4-83F30A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520440" cy="18288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11E5664-D468-45EA-AEBE-D02714DF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73152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D90C3F-0C62-42DD-942D-3A3E4362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554480"/>
            <a:ext cx="317296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ขอบเขตงาน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A46B583-F131-43F1-AF18-46D957C4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947672"/>
            <a:ext cx="3154680" cy="11521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ระบบเข้าสู่ระบบ, จัดการบทความ, จัดการเอกสาร, แชท AI, สถิติการใช้งาน และหน้าผู้ดูแลระบบ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ส่วนเชื่อมต่ออัตโนมัติภายนอกยังไม่เปิดนำเสนอในรอบนี้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84A073C-885C-4FCB-A503-5E946E7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110185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47AC532-A699-4F3B-82A3-4DE3DFC9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38130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สรุปสั้น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CE3567A-FB38-4F3F-ABC5-A979CA0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794760"/>
            <a:ext cx="9720072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ระบบมุ่งให้ผู้ปกครองและนักศึกษาได้รับคำตอบได้สะดวก รวดเร็ว และต่อเนื่องมากขึ้น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8E405DC-CCB6-4549-8D0B-DC864F6BFFA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645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209F6C9-5E69-4D7F-9C1D-F965DA42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2. สรุปความสำเร็จของโครงงาน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59E262E-407F-4566-9B1B-2DBF0DC6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ความคืบหน้าโดยรวมอยู่ที่ 100% ตามขอบเขตโครงงาน และสามารถสาธิตการทำงานหลักได้ครบถ้วน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FEA12E1-A01B-4336-B614-58412373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ความก้าวหน้ารวม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BD58802-F932-4487-867B-1F292278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10808208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FE8F1"/>
          </a:solidFill>
          <a:ln xmlns:a="http://schemas.openxmlformats.org/drawingml/2006/main" w="12700">
            <a:solidFill>
              <a:srgbClr val="DFE8F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80DD11B-E225-4136-BEB2-0EC7904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8650224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F46F844-0512-4E3F-A8B0-7C694D5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10512"/>
            <a:ext cx="15544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8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100%</a:t>
            </a:r>
            <a:endParaRPr sz="1800"/>
          </a:p>
        </p:txBody>
      </p:sp>
      <p:graphicFrame>
        <p:nvGraphicFramePr>
          <p:cNvPr id="33" name="Table 0"/>
          <p:cNvGraphicFramePr/>
          <p:nvPr/>
        </p:nvGraphicFramePr>
        <p:xfrm>
          <a:off xmlns:a="http://schemas.openxmlformats.org/drawingml/2006/main" x="658368" y="2578608"/>
          <a:ext xmlns:a="http://schemas.openxmlformats.org/drawingml/2006/main" cx="10808208" cy="24231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80560"/>
                <a:gridCol w="2103120"/>
                <a:gridCol w="4224528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งาน/โมดูล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เข้าสู่ระบบและสิทธิ์ผู้ใช้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 Login, แยกผู้ดูแลระบบและเจ้าหน้าที่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จัดการองค์ความรู้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 และค้นหาบทความได้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จัดการเอกสารและไฟล์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มีหน้าอัปโหลด รายการเอกสาร และตัวกรอง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 และสถิติ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ตอบจากข้อมูลภายใน บันทึกประวัติ และแสดงสถิติการใช้งาน</a:t>
                      </a:r>
                      <a:endParaRPr sz="125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30E742-2C71-47CA-9DF6-AF49CF3C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193792"/>
            <a:ext cx="1080820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558B132-D7D3-456C-8360-A38CB63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หมายเหตุ</a:t>
            </a:r>
            <a:endParaRPr sz="11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8DDA80F-16CE-47CA-B0F9-E0D5245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285232"/>
            <a:ext cx="950976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ตัวเลขนี้ประเมินจากฟังก์ชันหลักที่พัฒนาเสร็จ การเชื่อมฐานข้อมูล การทดสอบ และหลักฐานที่พร้อมใช้ประกอบการนำเสนอ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F42D0A-9D3A-4058-A5AF-B6F0E68D4CF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02861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D2781A-7CC8-4891-8350-78386CC7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3. การออกแบบและวิธีดำเนินงาน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C00D47-0A70-478D-83ED-81B73DB1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ระบบใช้เว็บแอปเป็นศูนย์กลาง เชื่อมฐานข้อมูล บทความ เอกสาร และบริการ AI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1CE9515-FC8A-4815-B480-2A499FC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9F3884-8A95-4B00-A920-16D2A9A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DB118D-37DA-4F69-BAA3-F8AA0F1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ภาพรวมการทำงานของระบบ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39202E-66D4-4C15-8A92-31F8D36E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ผู้ใช้เข้าสู่ระบบ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ตรวจสอบบทบาทและสิทธิ์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จัดการบทความหรือเอกสาร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ค้นหาข้อมูลหรือถาม AI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ระบบบันทึกผลและสถิติการใช้งาน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D2ACE98-26C3-498D-8AE5-A8B6493F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530352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DB0AEF3-C35E-4B83-A539-4EE8522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1417320"/>
            <a:ext cx="73152" cy="3154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5C10348-9C83-43E9-A777-755A2C2D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เครื่องมือที่ใช้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7D44F5-E0A6-4A2F-A370-6E157024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47672"/>
            <a:ext cx="493776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Next.js: โครงเว็บและหน้าจอระบบ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Supabase: ฐานข้อมูล เข้าสู่ระบบ และเก็บไฟล์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OpenAI: ช่วยตอบคำถามและประมวลผลภาษา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Tailwind CSS: จัดหน้าตาเว็บให้ใช้งานง่าย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282C318-6DAB-463F-8139-9509F264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28032"/>
            <a:ext cx="10863072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8574C2-4438-4892-BE18-F7645C3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93776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แนวทาง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D9B433C-419A-4830-BACD-626643B4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919472"/>
            <a:ext cx="956462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ระบบครอบคลุมงานหลัก ได้แก่ ล็อกอิน ข้อมูลความรู้ เอกสาร แชท AI และสถิติ พร้อมผ่านการทดสอบตามขอบเขตโครงงาน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C7999A2-1998-43E3-851C-7F88922DCB3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3800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32F5BB-B4F8-4515-B512-0B6D001E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4. ผลงานที่ดำเนินการเสร็จแล้ว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B28F19-1894-409D-93A0-9E55BD7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ส่วนที่ทำได้แล้วเป็นฟังก์ชันหลักที่สามารถเปิดสาธิตจากระบบจริง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34E7653-3409-41D5-80DA-9AED2A9C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C7DAD76-4BB6-47A0-8CFE-09295CD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E4E4C3-0E70-4D5B-8509-65D06C9A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หน้าผู้ดูแลระบบ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5AE8F0A-A9A7-44E8-BDEF-5F2C656C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มีแดชบอร์ดแสดงภาพรวม จำนวนข้อมูลความรู้ ข้อมูลที่เผยแพร่ และจำนวนผู้ใช้งาน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ใช้สำหรับติดตามสถานะของระบบ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FDD58AB-FEF4-4FD2-9B21-4738057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1849DC2-AB71-432D-B420-413201E3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A896DDB-5077-41A4-A8F6-1AAEF0D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8579B58-8A47-441F-96C8-17498BE1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 แก้ไข และจัดสถานะข้อมูลความรู้ได้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มีหน้าเอกสารพร้อมการค้นหาและตัวกรอง เพื่อเตรียมข้อมูลให้ AI ใช้งาน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5478F96-9926-4940-9FB8-D5CBB7D9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3429000" cy="338328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9371725-3420-4EA8-BBA9-579D9B82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17320"/>
            <a:ext cx="73152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0C0F5-565C-489C-B1FB-DF2CAF9B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0E08613-2C9F-4CD7-8334-308A043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947672"/>
            <a:ext cx="3063240" cy="2706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ผู้ใช้ถามคำถามเป็นภาษาไทยได้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ระบบค้นหาข้อมูลที่เกี่ยวข้องและบันทึกสถิติ เพื่อดูคำถามที่พบบ่อยหรือจุดที่ข้อมูลยังไม่ครบ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582E9DE-80F0-4226-A123-ADF72E8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74920"/>
            <a:ext cx="10853928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D253CF5-70BA-443F-B8D8-14DDBF40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64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EFA90A-FE7C-497B-BB14-807D555E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1368" y="5166360"/>
            <a:ext cx="95554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มีหน้าเว็บจริง โค้ดระบบ ฐานข้อมูล และหน้าจอที่สามารถสาธิตการทำงานหลักได้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8C4CF9-C7A4-447C-A976-ECAC258092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805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F355805-F07F-4F05-A347-88B0F8FA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5. การทดสอบเบื้องต้น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388CF6-7BCB-4C8F-97C8-1D108B5D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ทดสอบจากการใช้งานจริงของแต่ละหน้า เพื่อดูว่าส่วนหลักทำงานได้ตามที่ออกแบบไว้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490472"/>
          <a:ext xmlns:a="http://schemas.openxmlformats.org/drawingml/2006/main" cx="10936224" cy="23317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2423160"/>
                <a:gridCol w="2103120"/>
                <a:gridCol w="2103120"/>
                <a:gridCol w="2295144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รายการทดสอบ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วิธีทดสอบ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ผลที่คาดหวัง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เข้าสู่ระบบ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ลองบัญชีผู้ดูแลและเจ้าหน้าที่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เข้าหน้าตามสิทธิ์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บทความความรู้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 แก้ไข เผยแพร่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ข้อมูลถูกบันทึกและแสดงผล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แชท AI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ถามคำถามจากข้อมูลในระบบ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ตอบเป็นภาษาไทยและอ้างอิงข้อมูล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ทำงานได้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ผ่าน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64008" marR="64008" marT="64008" marB="64008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86DC522-9CA4-49B5-9BAA-C310969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5303520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6AD0C902-08CC-4EF1-AA9A-0515F194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5BE0C2D-2A4A-4C26-A584-9E9B43A3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33672"/>
            <a:ext cx="49560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หลักฐานผลการทดสอบ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4513249-B307-41EB-856E-113B4EEC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26864"/>
            <a:ext cx="493776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ทดสอบจากการเข้าใช้งานจริงของแต่ละหน้า ตรวจการบันทึกข้อมูล และตรวจการตอบกลับของ AI จากข้อมูลภายใน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876CB711-80BC-464F-8F0A-D9B3305B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5358384" cy="1170432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72699BE-FCF0-4C3B-9DCB-1757141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096512"/>
            <a:ext cx="73152" cy="1170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17"/>
          </a:solidFill>
          <a:ln xmlns:a="http://schemas.openxmlformats.org/drawingml/2006/main" w="12700">
            <a:solidFill>
              <a:srgbClr val="C47F17"/>
            </a:solidFill>
            <a:prstDash val="solid"/>
          </a:ln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38D27E3-293D-451C-9620-D2142A39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33672"/>
            <a:ext cx="501091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ข้อค้นพบ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1152D47-1A2C-4B1A-9D26-25F721F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26864"/>
            <a:ext cx="4992624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ส่วนหลักทำงานได้ครบตามขอบเขต ทดสอบหลายบัญชีได้ และ AI ตอบคำถามจากข้อมูลภายในได้ตรงประเด็นมากขึ้น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FC804A-CBD7-44CB-A30F-D6B59E52F02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319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94DC99-1356-42B3-9D76-AE4552A5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6. ปัญหา อุปสรรค และการแก้ไข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1C8595-B45E-4EC9-9492-DBD849E9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ระหว่างพัฒนาพบข้อจำกัดด้านโครงสร้างข้อมูล สิทธิ์ผู้ใช้ และความแม่นยำของคำตอบ AI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27048"/>
          <a:ext xmlns:a="http://schemas.openxmlformats.org/drawingml/2006/main" cx="10881360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68880"/>
                <a:gridCol w="2331720"/>
                <a:gridCol w="3337560"/>
                <a:gridCol w="274320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ปัญหาที่พบ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สาเหตุ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แนวทางแก้ไขที่ดำเนินการ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ผลหลังแก้ไข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สิทธิ์ผู้ใช้ซับซ้อน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มีหลายบทบาทในระบบ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แยกเส้นทางผู้ดูแลและเจ้าหน้าที่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ควบคุมการเข้าถึงได้ดีขึ้น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ข้อมูลเอกสารยังไม่สม่ำเสมอ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ไฟล์และบทความมีรูปแบบต่างกัน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เพิ่มหน้าจัดการเอกสารและสถานะ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เตรียมข้อมูลได้เป็นระบบขึ้น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คำถามจากผู้ใช้มีหลายรูปแบบ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ข้อมูลเดิมกระจายและใช้ถ้อยคำต่างกัน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ปรับให้ระบบค้นหาบทความที่เกี่ยวข้องก่อนตอบ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คำตอบตรงกับข้อมูลภายในมากขึ้น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81964A0-AB60-4DAC-85E2-DCA13256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18304"/>
            <a:ext cx="1088136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55A2C1D-FFB7-4485-8E8B-30CDD0AD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28032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สรุป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6FA879-BD57-4492-A017-5A0DFDDD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09744"/>
            <a:ext cx="9582912" cy="7040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ปัญหาหลักอยู่ที่การรวมข้อมูลให้ค้นหาได้ง่าย และทำให้ระบบตอบคำถามได้ต่อเนื่องแม้นอกเวลาทำการ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BDCD7AB-8353-4BD2-A035-71DC46FB67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55634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AF32B12-3F5A-4805-B81B-F7BE2C8C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7. งานที่ดำเนินการครบถ้วนและความพร้อมใช้งาน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2559F8-2577-41B2-8D54-63C83BF6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งานหลักดำเนินการครบตามขอบเขต พร้อมแสดงหลักฐานการทดสอบและสาธิตการใช้งานจริง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21792" y="1536192"/>
          <a:ext xmlns:a="http://schemas.openxmlformats.org/drawingml/2006/main" cx="10954512" cy="28803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1828800"/>
                <a:gridCol w="3337560"/>
                <a:gridCol w="3044952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งานที่ดำเนินการ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สถานะเมื่อส่งงาน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ผลลัพธ์ที่ได้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ทดสอบกับข้อมูลตัวอย่างและข้อมูลจริง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เพิ่มข้อมูลหลายหมวดและตรวจการค้นหา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ผลทดสอบและหน้าจอการใช้งาน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ปรับประสบการณ์ใช้งาน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ปรับข้อความ ปุ่ม และลำดับการใช้งาน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หน้าจอพร้อมสาธิต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จัดทำรายงานและหลักฐานสาธิต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เสร็จสมบูรณ์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รวบรวมภาพหน้าจอ ผลทดสอบ และเอกสารประกอบ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8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พร้อมนำเสนอผลงานสมบูรณ์ 100%</a:t>
                      </a:r>
                      <a:endParaRPr sz="118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70D6948-9C8A-4E48-98EF-EC88FC81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709160"/>
            <a:ext cx="1095451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368A347-6682-40D4-BCDA-C9A7A565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1888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ความพร้อม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F687599-C4FA-4847-8FDE-5256BB4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792" y="4800600"/>
            <a:ext cx="965606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ระบบพร้อมสาธิตตามขอบเขตโครงงาน และสามารถต่อยอดด้วยข้อมูลจริงเพิ่มเติมเมื่อนำไปใช้งานในวงกว้าง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7BBCA1B-2C44-4215-B38D-69B29A190CD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18746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D9C509-794B-4C20-8176-17207076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8. การแบ่งหน้าที่และผลงานรายบุคคล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C7833C-4D95-4F99-98CD-0FB343DF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ผู้จัดทำรับผิดชอบตั้งแต่การออกแบบระบบ พัฒนาเว็บ เชื่อมฐานข้อมูล และทดสอบเบื้องต้น</a:t>
            </a:r>
            <a:endParaRPr sz="1250"/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640080" y="1554480"/>
          <a:ext xmlns:a="http://schemas.openxmlformats.org/drawingml/2006/main" cx="10881360" cy="29077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880360"/>
                <a:gridCol w="3017520"/>
                <a:gridCol w="2697480"/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ชื่อสมาชิก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หน้าที่รับผิดชอบ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สิ่งที่ทำสำเร็จ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 b="1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หลักฐาน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วิเคราะห์และออกแบบระบบ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กำหนดขอบเขต ฟังก์ชัน และโครงสร้างข้อมูล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README, โครงหน้าเว็บ, 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พัฒนาเว็บและฐานข้อมูล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ทำหน้า Login, Dashboard, Knowledge, Documents และ Users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Source Code และหน้าจอระบบ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นายพัฒนกุล เทปิน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เชื่อม AI และทดสอบ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ทำระบบ Chat, บันทึกประวัติ และหน้าสถิติ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F2937"/>
                          </a:solidFill>
                          <a:latin typeface="Noto Sans Thai"/>
                          <a:ea typeface="Noto Sans Thai"/>
                          <a:cs typeface="Noto Sans Thai"/>
                        </a:rPr>
                        <a:t>API, ผลทดสอบ และการสาธิต</a:t>
                      </a:r>
                      <a:endParaRPr sz="1200">
                        <a:latin typeface="Noto Sans Thai"/>
                        <a:ea typeface="Noto Sans Thai"/>
                        <a:cs typeface="Noto Sans Thai"/>
                      </a:endParaRPr>
                    </a:p>
                  </a:txBody>
                  <a:tcPr marL="73152" marR="73152" marT="73152" marB="73152">
                    <a:lnL w="12700" cmpd="sng">
                      <a:solidFill>
                        <a:srgbClr val="CDD7E1"/>
                      </a:solidFill>
                      <a:prstDash val="solid"/>
                    </a:lnL>
                    <a:lnR w="12700" cmpd="sng">
                      <a:solidFill>
                        <a:srgbClr val="CDD7E1"/>
                      </a:solidFill>
                      <a:prstDash val="solid"/>
                    </a:lnR>
                    <a:lnT w="12700" cmpd="sng">
                      <a:solidFill>
                        <a:srgbClr val="CDD7E1"/>
                      </a:solidFill>
                      <a:prstDash val="solid"/>
                    </a:lnT>
                    <a:lnB w="12700" cmpd="sng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11055C7-ABF5-4C35-8147-552D264B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0"/>
            <a:ext cx="1088136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12700">
            <a:solidFill>
              <a:srgbClr val="E7C46B"/>
            </a:solidFill>
            <a:prstDash val="solid"/>
          </a:ln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E1BE146-3500-447F-84F8-72DB576E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64608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47F17"/>
                </a:solidFill>
                <a:latin typeface="Noto Sans Thai"/>
                <a:ea typeface="Noto Sans Thai"/>
                <a:cs typeface="Noto Sans Thai"/>
              </a:rPr>
              <a:t>หลักฐาน</a:t>
            </a:r>
            <a:endParaRPr sz="11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CC47E55-3E01-4BEE-979E-39512AA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4846320"/>
            <a:ext cx="958291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B4F1D"/>
                </a:solidFill>
                <a:latin typeface="Noto Sans Thai"/>
                <a:ea typeface="Noto Sans Thai"/>
                <a:cs typeface="Noto Sans Thai"/>
              </a:rPr>
              <a:t>สามารถอธิบายโครงสร้างระบบ หน้าที่ของแต่ละหน้า และขั้นตอนการพัฒนาที่ทำไปแล้วได้</a:t>
            </a:r>
            <a:endParaRPr sz="11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2345E2-A433-4173-90E1-69498178BA08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52861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E8A81AF-0876-434E-9396-32878F9A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9. สรุปผลการดำเนินงานและสาธิต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BBE373D-8C7D-49DB-9296-CC43544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ระบบพัฒนาเสร็จครบตามขอบเขต สามารถสาธิตการใช้งานหลักและอธิบายผลการทดสอบได้ครบถ้วน</a:t>
            </a:r>
            <a:endParaRPr sz="12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75420D6-F22F-4D93-BF89-A0D80DDE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551C3A8-AB5B-4E1A-B535-60F4094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12700">
            <a:solidFill>
              <a:srgbClr val="1F8A8A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9812FC-56E4-40A4-A2A2-2162243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ระดับความสำเร็จ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FEA59C9-BC41-43E6-B4C5-1241551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ความก้าวหน้าปัจจุบัน : 100%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/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ส่วนสำคัญที่ทำสำเร็จ :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ล็อกอินและสิทธิ์ผู้ใช้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คลังความรู้และเอกสาร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แชท AI และสถิติ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C4D4CA2-BCAF-4B6A-BD70-2F3425F9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22D595-0B77-4ABD-8857-8EF731B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12700">
            <a:solidFill>
              <a:srgbClr val="2F855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DFF47E-A65E-4981-8933-90532A5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สิ่งที่พิสูจน์ได้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06A0FF-DFF1-4C0C-B8F8-3764CBD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ระบบเปิดใช้งานจากหน้าเว็บได้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เพิ่มและจัดการข้อมูลได้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AI ตอบคำถามจากข้อมูลภายในได้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9C6A34-5D53-4100-A9C1-B36C6898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3429000" cy="214884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2EC"/>
            </a:solidFill>
            <a:prstDash val="solid"/>
          </a:ln>
          <a:effectLst xmlns:a="http://schemas.openxmlformats.org/drawingml/2006/main">
            <a:outerShdw blurRad="15240" dist="50800" dir="2700000" sx="100000" sy="100000" kx="0" ky="0" algn="bl" rotWithShape="0">
              <a:srgbClr val="C7D2DE">
                <a:alpha val="16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D39A39D-695D-43EE-A3BB-C8DC095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417320"/>
            <a:ext cx="73152" cy="2148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8C6"/>
          </a:solidFill>
          <a:ln xmlns:a="http://schemas.openxmlformats.org/drawingml/2006/main" w="12700">
            <a:solidFill>
              <a:srgbClr val="3178C6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1C924D7-6E58-472A-AE3B-E442095A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55448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แนวทางต่อยอด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678EDA0-8DE5-4EFB-AC22-6E9573F6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47672"/>
            <a:ext cx="3063240" cy="1472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เพิ่มข้อมูลจริงให้ครอบคลุมมากขึ้น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t>ทดสอบกับผู้ใช้หลายบทบาท</a:t>
            </a:r>
            <a:endParaRPr sz="1250"/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ติดตามคำถามที่พบบ่อยและปรับข้อมูลให้ครบถ้วนขึ้น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50E90E-9CA4-46E6-B0E8-2B6B364D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40"/>
            <a:ext cx="10890504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9F6F6"/>
          </a:solidFill>
          <a:ln xmlns:a="http://schemas.openxmlformats.org/drawingml/2006/main" w="15240">
            <a:solidFill>
              <a:srgbClr val="B7DE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27A69EE-410C-4ED0-B6EE-127A7A95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F8A8A"/>
                </a:solidFill>
                <a:latin typeface="Noto Sans Thai"/>
                <a:ea typeface="Noto Sans Thai"/>
                <a:cs typeface="Noto Sans Thai"/>
              </a:rPr>
              <a:t>สาธิตผลงานจริง</a:t>
            </a:r>
            <a:endParaRPr sz="2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845AAF-F6C8-46C7-95FD-A7256F1C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187952"/>
            <a:ext cx="78181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แนะนำการสาธิต: เข้าสู่ระบบ แสดงแดชบอร์ด เพิ่มข้อมูลความรู้ ถาม AI และดูสถิติการใช้งาน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13F4020-DDD5-45D1-B0AA-803943A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32120"/>
            <a:ext cx="7132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3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ขอบคุณครับ | คำถามจากคณะกรรมการ</a:t>
            </a:r>
            <a:endParaRPr sz="2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4D7CABB-40B2-4CBC-BA79-D0F0B25F6C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978777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3229CF-7E7B-45FC-9747-28292E46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11155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63A5F"/>
                </a:solidFill>
                <a:latin typeface="Noto Sans Thai"/>
                <a:ea typeface="Noto Sans Thai"/>
                <a:cs typeface="Noto Sans Thai"/>
              </a:rPr>
              <a:t>ข้อควรเตรียมก่อนนำเสนอ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FB1E4F-D6DB-4293-98B6-103D925C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23544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67085"/>
                </a:solidFill>
                <a:latin typeface="Noto Sans Thai"/>
                <a:ea typeface="Noto Sans Thai"/>
                <a:cs typeface="Noto Sans Thai"/>
              </a:rPr>
              <a:t>เตรียมสาธิตจากระบบจริง พร้อมหลักฐานประกอบเพื่อให้การนำเสนอราบรื่น</a:t>
            </a:r>
            <a:endParaRPr sz="12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5191E8F-AA98-4400-A788-58C5411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17320"/>
            <a:ext cx="102870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เตรียมบัญชีทดลองสำหรับผู้ดูแลระบบและเจ้าหน้าที่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เตรียมข้อมูลความรู้ตัวอย่างอย่างน้อย 5-10 รายการ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เตรียมเอกสารตัวอย่างสำหรับอัปโหลดและค้นหา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เตรียมคำถามภาษาไทยสำหรับทดสอบ AI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เตรียมภาพหน้าจอหรือวิดีโอสำรอง หากอินเทอร์เน็ตหรือระบบมีปัญหา</a:t>
            </a:r>
            <a:endParaRPr sz="1500"/>
          </a:p>
          <a:p xmlns:a="http://schemas.openxmlformats.org/drawingml/2006/main">
            <a:pPr marL="228600" indent="-228600">
              <a:buSzPct val="100000"/>
              <a:buChar char="•"/>
            </a:pPr>
            <a:r>
              <a:rPr sz="1500">
                <a:solidFill>
                  <a:srgbClr val="1F2937"/>
                </a:solidFill>
                <a:latin typeface="Noto Sans Thai"/>
                <a:ea typeface="Noto Sans Thai"/>
                <a:cs typeface="Noto Sans Thai"/>
              </a:rPr>
              <a:t>ทบทวนขั้นตอนสาธิตและคำถามที่คาดว่าจะได้รับ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2EDFB1-7BF1-4D7E-86E7-D20D7E6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74920"/>
            <a:ext cx="1028700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2700">
            <a:solidFill>
              <a:srgbClr val="E2B8B8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EA0C277-E4E3-460E-9B21-0A5BAB4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85232"/>
            <a:ext cx="9829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64949"/>
                </a:solidFill>
                <a:latin typeface="Noto Sans Thai"/>
                <a:ea typeface="Noto Sans Thai"/>
                <a:cs typeface="Noto Sans Thai"/>
              </a:rPr>
              <a:t>หลักสำคัญ: นำเสนอสิ่งที่ทำได้จริง อธิบายให้เข้าใจง่าย และแสดงผลลัพธ์ครบตามขอบเขตโครงงาน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DECEC7C-8D1B-4731-971C-6B4A44F543B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0040" y="6510528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718096"/>
                </a:solidFill>
                <a:latin typeface="Noto Sans Thai"/>
                <a:ea typeface="Noto Sans Thai"/>
                <a:cs typeface="Noto Sans Tha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03850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2026-09-14T15:15:09.5510000Z</dcterms:created>
  <dcterms:modified xsi:type="dcterms:W3CDTF">2026-09-14T15:15:09.5520000Z</dcterms:modified>
</coreProperties>
</file>