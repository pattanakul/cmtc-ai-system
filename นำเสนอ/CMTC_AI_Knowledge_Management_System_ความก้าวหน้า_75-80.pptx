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05AF1CF-84A1-4246-B8FA-9A91B8C3A7E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E9D47E1-A633-449C-A09E-B8DC91B2832C}"/>
              </a:ext>
            </a:extLst>
          </p:cNvPr>
          <p:cNvSpPr>
            <a:spLocks noGrp="1"/>
          </p:cNvSpPr>
          <p:nvPr/>
        </p:nvSpPr>
        <p:spPr>
          <a:xfrm>
            <a:off x="457200" y="6510528"/>
            <a:ext cx="676656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rPr>
              <a:t>โครงการ 1 | การนำเสนอผลการดำเนินงาน ≥ 75%</a:t>
            </a:r>
            <a:endParaRPr sz="9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2008D54-9625-4A82-943D-7AC488EFE6CB}"/>
              </a:ext>
            </a:extLst>
          </p:cNvPr>
          <p:cNvSpPr>
            <a:spLocks noGrp="1"/>
          </p:cNvSpPr>
          <p:nvPr/>
        </p:nvSpPr>
        <p:spPr>
          <a:xfrm>
            <a:off x="9509760" y="6510528"/>
            <a:ext cx="219456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rPr>
              <a:t>วิทยาลัยเทคนิคเชียงใหม่</a:t>
            </a:r>
            <a:endParaRPr sz="9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3D87ABDE-13E1-458F-A731-B9192032512B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</p:spPr>
        <p:txBody>
          <a:bodyPr/>
          <a:lstStyle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614D2D0A-761B-4477-8E7E-CA84B8924456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</p:spPr>
        <p:txBody>
          <a:bodyPr/>
          <a:lstStyle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599E4C5-929B-495B-9765-52533053D2F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3437E89-53AA-4E1C-96A7-02E4657703F0}"/>
              </a:ext>
            </a:extLst>
          </p:cNvPr>
          <p:cNvSpPr>
            <a:spLocks noGrp="1"/>
          </p:cNvSpPr>
          <p:nvPr/>
        </p:nvSpPr>
        <p:spPr>
          <a:xfrm rot="1200000">
            <a:off x="7955280" y="-914400"/>
            <a:ext cx="5120640" cy="5120640"/>
          </a:xfrm>
          <a:prstGeom prst="arc">
            <a:avLst/>
          </a:prstGeom>
          <a:solidFill>
            <a:srgbClr val="1D4D74">
              <a:alpha val="88000"/>
            </a:srgbClr>
          </a:solidFill>
          <a:ln w="12700">
            <a:solidFill>
              <a:srgbClr val="1D4D74">
                <a:alpha val="0"/>
              </a:srgbClr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C401A59-71F2-4AFD-9F94-4013EB72303F}"/>
              </a:ext>
            </a:extLst>
          </p:cNvPr>
          <p:cNvSpPr>
            <a:spLocks noGrp="1"/>
          </p:cNvSpPr>
          <p:nvPr/>
        </p:nvSpPr>
        <p:spPr>
          <a:xfrm rot="-2400000">
            <a:off x="8686800" y="3108960"/>
            <a:ext cx="3840480" cy="3840480"/>
          </a:xfrm>
          <a:prstGeom prst="arc">
            <a:avLst/>
          </a:prstGeom>
          <a:solidFill>
            <a:srgbClr val="1F8A8A">
              <a:alpha val="82000"/>
            </a:srgbClr>
          </a:solidFill>
          <a:ln w="12700">
            <a:solidFill>
              <a:srgbClr val="1F8A8A">
                <a:alpha val="0"/>
              </a:srgbClr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9C71B48-01DD-41D5-9A0E-51BCCA2D5821}"/>
              </a:ext>
            </a:extLst>
          </p:cNvPr>
          <p:cNvSpPr>
            <a:spLocks noGrp="1"/>
          </p:cNvSpPr>
          <p:nvPr/>
        </p:nvSpPr>
        <p:spPr>
          <a:xfrm>
            <a:off x="658368" y="1051560"/>
            <a:ext cx="7498080" cy="1325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2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รายงานความก้าวหน้าโครงงาน 1</a:t>
            </a:r>
            <a:endParaRPr sz="3200"/>
          </a:p>
          <a:p>
            <a:pPr marL="0" indent="0">
              <a:buNone/>
            </a:pPr>
            <a:r>
              <a:rPr sz="32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ระดับความคืบหน้า 75-80%</a:t>
            </a:r>
            <a:endParaRPr sz="32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8E42046-4796-4B02-9C8B-57739AEBBDFA}"/>
              </a:ext>
            </a:extLst>
          </p:cNvPr>
          <p:cNvSpPr>
            <a:spLocks noGrp="1"/>
          </p:cNvSpPr>
          <p:nvPr/>
        </p:nvSpPr>
        <p:spPr>
          <a:xfrm>
            <a:off x="694944" y="2578608"/>
            <a:ext cx="704088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>
                <a:solidFill>
                  <a:srgbClr val="DCEAF4"/>
                </a:solidFill>
                <a:latin typeface="Noto Sans Thai"/>
                <a:ea typeface="Noto Sans Thai"/>
                <a:cs typeface="Noto Sans Thai"/>
              </a:rPr>
              <a:t>ระบบจัดการข้อมูลและองค์ความรู้ด้วยปัญญาประดิษฐ์</a:t>
            </a:r>
            <a:endParaRPr sz="18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B0F4F53-2A11-4B44-A9EF-EA94A24CFDE2}"/>
              </a:ext>
            </a:extLst>
          </p:cNvPr>
          <p:cNvSpPr>
            <a:spLocks noGrp="1"/>
          </p:cNvSpPr>
          <p:nvPr/>
        </p:nvSpPr>
        <p:spPr>
          <a:xfrm>
            <a:off x="685800" y="3236976"/>
            <a:ext cx="6309360" cy="1325880"/>
          </a:xfrm>
          <a:prstGeom prst="round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057741F-54F0-4C1B-8256-FA51282469EB}"/>
              </a:ext>
            </a:extLst>
          </p:cNvPr>
          <p:cNvSpPr>
            <a:spLocks noGrp="1"/>
          </p:cNvSpPr>
          <p:nvPr/>
        </p:nvSpPr>
        <p:spPr>
          <a:xfrm>
            <a:off x="932688" y="3456432"/>
            <a:ext cx="5806440" cy="896112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 fontScale="91823" lnSpcReduction="10000"/>
          </a:bodyPr>
          <a:lstStyle/>
          <a:p>
            <a:pPr marL="0" indent="0">
              <a:buNone/>
            </a:pPr>
            <a:r>
              <a:rPr sz="1600" dirty="0" err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ชื่อโครงงาน</a:t>
            </a:r>
            <a:r>
              <a:rPr sz="1600" dirty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 : </a:t>
            </a:r>
            <a:r>
              <a:rPr sz="1600" dirty="0" err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ระบบจัดการข้อมูลและองค์ความรู้ด้วยปัญญาประดิษฐ์</a:t>
            </a:r>
            <a:endParaRPr sz="1600" dirty="0"/>
          </a:p>
          <a:p>
            <a:pPr marL="0" indent="0">
              <a:buNone/>
            </a:pPr>
            <a:r>
              <a:rPr lang="th-TH" sz="1600" dirty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                      </a:t>
            </a:r>
            <a:r>
              <a:rPr sz="1600" dirty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(CMTC AI Knowledge Management System)</a:t>
            </a:r>
            <a:endParaRPr sz="1600" dirty="0"/>
          </a:p>
          <a:p>
            <a:pPr marL="0" indent="0">
              <a:buNone/>
            </a:pPr>
            <a:r>
              <a:rPr sz="1600" dirty="0" err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ผู้จัดทำ</a:t>
            </a:r>
            <a:r>
              <a:rPr sz="1600" dirty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 : </a:t>
            </a:r>
            <a:r>
              <a:rPr sz="1600" dirty="0" err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นายพัฒนกุล</a:t>
            </a:r>
            <a:r>
              <a:rPr sz="1600" dirty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 เทปิน 68409010013</a:t>
            </a:r>
            <a:endParaRPr sz="1600" dirty="0"/>
          </a:p>
          <a:p>
            <a:pPr marL="0" indent="0">
              <a:buNone/>
            </a:pPr>
            <a:r>
              <a:rPr sz="1600" dirty="0" err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อาจารย์ที่ปรึกษา</a:t>
            </a:r>
            <a:r>
              <a:rPr sz="1600" dirty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 : </a:t>
            </a:r>
            <a:r>
              <a:rPr sz="1600" dirty="0" err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นายอนุชาติ</a:t>
            </a:r>
            <a:r>
              <a:rPr sz="1600" dirty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รังสิยานนท์</a:t>
            </a:r>
            <a:endParaRPr sz="1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75AE6CD-D17F-46B7-90D5-DF8BFA84A2EC}"/>
              </a:ext>
            </a:extLst>
          </p:cNvPr>
          <p:cNvSpPr>
            <a:spLocks noGrp="1"/>
          </p:cNvSpPr>
          <p:nvPr/>
        </p:nvSpPr>
        <p:spPr>
          <a:xfrm>
            <a:off x="713232" y="6016752"/>
            <a:ext cx="10698480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250">
                <a:solidFill>
                  <a:srgbClr val="CFE1EE"/>
                </a:solidFill>
                <a:latin typeface="Noto Sans Thai"/>
                <a:ea typeface="Noto Sans Thai"/>
                <a:cs typeface="Noto Sans Thai"/>
              </a:rPr>
              <a:t>การประเมินโครงการ 1 | แสดงผลงานที่พัฒนาได้จริงและแผนพัฒนาต่อให้สมบูรณ์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1105334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E7DD020-B8BB-40C4-BB3F-63DA4CF6DBFC}"/>
              </a:ext>
            </a:extLst>
          </p:cNvPr>
          <p:cNvSpPr>
            <a:spLocks noGrp="1"/>
          </p:cNvSpPr>
          <p:nvPr/>
        </p:nvSpPr>
        <p:spPr>
          <a:xfrm>
            <a:off x="502920" y="393192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1. ปัญหา ที่มา และเป้าหมายของโครงงาน</a:t>
            </a:r>
            <a:endParaRPr sz="25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7702761-7330-4751-B373-3CA446836A96}"/>
              </a:ext>
            </a:extLst>
          </p:cNvPr>
          <p:cNvSpPr>
            <a:spLocks noGrp="1"/>
          </p:cNvSpPr>
          <p:nvPr/>
        </p:nvSpPr>
        <p:spPr>
          <a:xfrm>
            <a:off x="530352" y="923544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โครงงานนี้ช่วยให้ข้อมูลของวิทยาลัยถูกจัดเก็บ ค้นหา และนำกลับมาใช้ได้ง่ายขึ้น</a:t>
            </a:r>
            <a:endParaRPr sz="125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C7B8A17-6A34-4FF4-AE2D-672C5BD1CB9B}"/>
              </a:ext>
            </a:extLst>
          </p:cNvPr>
          <p:cNvSpPr>
            <a:spLocks noGrp="1"/>
          </p:cNvSpPr>
          <p:nvPr/>
        </p:nvSpPr>
        <p:spPr>
          <a:xfrm>
            <a:off x="594360" y="141732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5240" dist="50800" dir="2700000" algn="bl" rotWithShape="0">
              <a:srgbClr val="C7D2DE">
                <a:alpha val="16000"/>
              </a:srgbClr>
            </a:outerShdw>
          </a:effectLst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9346145-CC9C-412A-9C61-439E5BFD504B}"/>
              </a:ext>
            </a:extLst>
          </p:cNvPr>
          <p:cNvSpPr>
            <a:spLocks noGrp="1"/>
          </p:cNvSpPr>
          <p:nvPr/>
        </p:nvSpPr>
        <p:spPr>
          <a:xfrm>
            <a:off x="594360" y="1417320"/>
            <a:ext cx="73152" cy="1828800"/>
          </a:xfrm>
          <a:prstGeom prst="rect">
            <a:avLst/>
          </a:prstGeom>
          <a:solidFill>
            <a:srgbClr val="B64949"/>
          </a:solidFill>
          <a:ln w="12700">
            <a:solidFill>
              <a:srgbClr val="B64949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92BE424-2674-4556-AD1C-BCAECE682A5F}"/>
              </a:ext>
            </a:extLst>
          </p:cNvPr>
          <p:cNvSpPr>
            <a:spLocks noGrp="1"/>
          </p:cNvSpPr>
          <p:nvPr/>
        </p:nvSpPr>
        <p:spPr>
          <a:xfrm>
            <a:off x="795528" y="1554480"/>
            <a:ext cx="3172968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ปัญหา / ความจำเป็น</a:t>
            </a:r>
            <a:endParaRPr sz="15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A5171CB-B326-4A66-8603-270A72794760}"/>
              </a:ext>
            </a:extLst>
          </p:cNvPr>
          <p:cNvSpPr>
            <a:spLocks noGrp="1"/>
          </p:cNvSpPr>
          <p:nvPr/>
        </p:nvSpPr>
        <p:spPr>
          <a:xfrm>
            <a:off x="795528" y="1947672"/>
            <a:ext cx="3154680" cy="1152144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ข้อมูลความรู้และเอกสารกระจายหลายจุด ทำให้ค้นหายากและตอบคำถามซ้ำบ่อย</a:t>
            </a:r>
            <a:endParaRPr sz="1250"/>
          </a:p>
          <a:p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บุคลากรต้องการระบบกลางที่ช่วยจัดเก็บ ค้นหา และดูแลสิทธิ์การใช้งาน</a:t>
            </a:r>
            <a:endParaRPr sz="125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C645D9B-3FBB-44E3-94C0-29E3EA4D1F76}"/>
              </a:ext>
            </a:extLst>
          </p:cNvPr>
          <p:cNvSpPr>
            <a:spLocks noGrp="1"/>
          </p:cNvSpPr>
          <p:nvPr/>
        </p:nvSpPr>
        <p:spPr>
          <a:xfrm>
            <a:off x="4343400" y="141732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5240" dist="50800" dir="2700000" algn="bl" rotWithShape="0">
              <a:srgbClr val="C7D2DE">
                <a:alpha val="16000"/>
              </a:srgbClr>
            </a:outerShdw>
          </a:effectLst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1ACB15E0-9AB3-4493-B298-65FBBEC1CCF5}"/>
              </a:ext>
            </a:extLst>
          </p:cNvPr>
          <p:cNvSpPr>
            <a:spLocks noGrp="1"/>
          </p:cNvSpPr>
          <p:nvPr/>
        </p:nvSpPr>
        <p:spPr>
          <a:xfrm>
            <a:off x="4343400" y="1417320"/>
            <a:ext cx="73152" cy="1828800"/>
          </a:xfrm>
          <a:prstGeom prst="rect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DDF8761-E98F-48C9-8200-C8C8A3BDB137}"/>
              </a:ext>
            </a:extLst>
          </p:cNvPr>
          <p:cNvSpPr>
            <a:spLocks noGrp="1"/>
          </p:cNvSpPr>
          <p:nvPr/>
        </p:nvSpPr>
        <p:spPr>
          <a:xfrm>
            <a:off x="4544568" y="1554480"/>
            <a:ext cx="3172968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วัตถุประสงค์</a:t>
            </a:r>
            <a:endParaRPr sz="15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0378985-CEFF-48EC-868B-FD0263ADF6CD}"/>
              </a:ext>
            </a:extLst>
          </p:cNvPr>
          <p:cNvSpPr>
            <a:spLocks noGrp="1"/>
          </p:cNvSpPr>
          <p:nvPr/>
        </p:nvSpPr>
        <p:spPr>
          <a:xfrm>
            <a:off x="4544568" y="1947672"/>
            <a:ext cx="3154680" cy="1152144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1. สร้างระบบกลางสำหรับจัดการข้อมูลความรู้ของวิทยาลัย</a:t>
            </a:r>
            <a:endParaRPr sz="1250"/>
          </a:p>
          <a:p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2. ใช้ AI ช่วยค้นหาและตอบคำถามจากข้อมูลภายใน</a:t>
            </a:r>
            <a:endParaRPr sz="1250"/>
          </a:p>
          <a:p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3. แยกสิทธิ์ผู้ใช้ให้เหมาะกับบทบาทงาน</a:t>
            </a:r>
            <a:endParaRPr sz="125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8DFC2C8C-E668-45AA-B0D6-435543349E1E}"/>
              </a:ext>
            </a:extLst>
          </p:cNvPr>
          <p:cNvSpPr>
            <a:spLocks noGrp="1"/>
          </p:cNvSpPr>
          <p:nvPr/>
        </p:nvSpPr>
        <p:spPr>
          <a:xfrm>
            <a:off x="8092440" y="141732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5240" dist="50800" dir="2700000" algn="bl" rotWithShape="0">
              <a:srgbClr val="C7D2DE">
                <a:alpha val="16000"/>
              </a:srgbClr>
            </a:outerShdw>
          </a:effectLst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17C5034-DD35-42ED-882B-6E734D3E385C}"/>
              </a:ext>
            </a:extLst>
          </p:cNvPr>
          <p:cNvSpPr>
            <a:spLocks noGrp="1"/>
          </p:cNvSpPr>
          <p:nvPr/>
        </p:nvSpPr>
        <p:spPr>
          <a:xfrm>
            <a:off x="8092440" y="1417320"/>
            <a:ext cx="73152" cy="1828800"/>
          </a:xfrm>
          <a:prstGeom prst="rect">
            <a:avLst/>
          </a:prstGeom>
          <a:solidFill>
            <a:srgbClr val="3178C6"/>
          </a:solidFill>
          <a:ln w="12700">
            <a:solidFill>
              <a:srgbClr val="3178C6"/>
            </a:solidFill>
            <a:prstDash val="solid"/>
          </a:ln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E7EA6B7-4CC4-48FD-A7CC-A9024687DFEE}"/>
              </a:ext>
            </a:extLst>
          </p:cNvPr>
          <p:cNvSpPr>
            <a:spLocks noGrp="1"/>
          </p:cNvSpPr>
          <p:nvPr/>
        </p:nvSpPr>
        <p:spPr>
          <a:xfrm>
            <a:off x="8293608" y="1554480"/>
            <a:ext cx="3172968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ขอบเขตงาน</a:t>
            </a:r>
            <a:endParaRPr sz="15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040F0DC-5EC2-43E3-8192-0AA4668C4E1C}"/>
              </a:ext>
            </a:extLst>
          </p:cNvPr>
          <p:cNvSpPr>
            <a:spLocks noGrp="1"/>
          </p:cNvSpPr>
          <p:nvPr/>
        </p:nvSpPr>
        <p:spPr>
          <a:xfrm>
            <a:off x="8293608" y="1947672"/>
            <a:ext cx="3154680" cy="1152144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ระบบเข้าสู่ระบบ, จัดการบทความ, จัดการเอกสาร, แชท AI, สถิติการใช้งาน และหน้าผู้ดูแลระบบ</a:t>
            </a:r>
            <a:endParaRPr sz="1250"/>
          </a:p>
          <a:p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ส่วนเชื่อมต่ออัตโนมัติภายนอกยังไม่เปิดนำเสนอในรอบนี้</a:t>
            </a:r>
            <a:endParaRPr sz="125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67C795D9-15EE-4B2E-844D-0835E54DD4C3}"/>
              </a:ext>
            </a:extLst>
          </p:cNvPr>
          <p:cNvSpPr>
            <a:spLocks noGrp="1"/>
          </p:cNvSpPr>
          <p:nvPr/>
        </p:nvSpPr>
        <p:spPr>
          <a:xfrm>
            <a:off x="594360" y="3703320"/>
            <a:ext cx="11018520" cy="1024128"/>
          </a:xfrm>
          <a:prstGeom prst="roundRect">
            <a:avLst/>
          </a:prstGeom>
          <a:solidFill>
            <a:srgbClr val="FFF8E8"/>
          </a:solidFill>
          <a:ln w="12700">
            <a:solidFill>
              <a:srgbClr val="E7C46B"/>
            </a:solidFill>
            <a:prstDash val="solid"/>
          </a:ln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E6E7C79-0848-4577-864A-1568BC2D4899}"/>
              </a:ext>
            </a:extLst>
          </p:cNvPr>
          <p:cNvSpPr>
            <a:spLocks noGrp="1"/>
          </p:cNvSpPr>
          <p:nvPr/>
        </p:nvSpPr>
        <p:spPr>
          <a:xfrm>
            <a:off x="758952" y="3813048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>
                <a:solidFill>
                  <a:srgbClr val="C47F17"/>
                </a:solidFill>
                <a:latin typeface="Noto Sans Thai"/>
                <a:ea typeface="Noto Sans Thai"/>
                <a:cs typeface="Noto Sans Thai"/>
              </a:rPr>
              <a:t>สรุปสั้น</a:t>
            </a:r>
            <a:endParaRPr sz="11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ED4BEE4-20A9-478A-A308-A98C89526BB8}"/>
              </a:ext>
            </a:extLst>
          </p:cNvPr>
          <p:cNvSpPr>
            <a:spLocks noGrp="1"/>
          </p:cNvSpPr>
          <p:nvPr/>
        </p:nvSpPr>
        <p:spPr>
          <a:xfrm>
            <a:off x="1737360" y="3794760"/>
            <a:ext cx="9720072" cy="85953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6B4F1D"/>
                </a:solidFill>
                <a:latin typeface="Noto Sans Thai"/>
                <a:ea typeface="Noto Sans Thai"/>
                <a:cs typeface="Noto Sans Thai"/>
              </a:rPr>
              <a:t>ระบบมุ่งให้วิทยาลัยมีคลังความรู้ที่ค้นหาได้ง่าย ใช้ซ้ำได้ และควบคุมสิทธิ์ได้ชัดเจน</a:t>
            </a:r>
            <a:endParaRPr sz="115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E69FA039-F02C-4BC0-86BF-1ACF33A9AA20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</p:spPr>
        <p:txBody>
          <a:bodyPr/>
          <a:lstStyle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>
            <a:pPr algn="l">
              <a:buNone/>
            </a:pPr>
            <a:fld id="{F7021451-1387-4CA6-816F-3879F97B5CBC}" type="slidenum">
              <a:rPr b="0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93292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8E43365-49C7-4593-A851-3A814233E782}"/>
              </a:ext>
            </a:extLst>
          </p:cNvPr>
          <p:cNvSpPr>
            <a:spLocks noGrp="1"/>
          </p:cNvSpPr>
          <p:nvPr/>
        </p:nvSpPr>
        <p:spPr>
          <a:xfrm>
            <a:off x="502920" y="393192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2. สรุปความก้าวหน้าปัจจุบัน</a:t>
            </a:r>
            <a:endParaRPr sz="25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537DCDF-0E0F-4103-8CBC-AD2CC576774C}"/>
              </a:ext>
            </a:extLst>
          </p:cNvPr>
          <p:cNvSpPr>
            <a:spLocks noGrp="1"/>
          </p:cNvSpPr>
          <p:nvPr/>
        </p:nvSpPr>
        <p:spPr>
          <a:xfrm>
            <a:off x="530352" y="923544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ความคืบหน้าโดยรวมอยู่ที่ประมาณ 75-80% และสามารถสาธิตส่วนหลักของระบบได้แล้ว</a:t>
            </a:r>
            <a:endParaRPr sz="125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1F44661-2EBF-47B5-BEB3-55FF22E86D5A}"/>
              </a:ext>
            </a:extLst>
          </p:cNvPr>
          <p:cNvSpPr>
            <a:spLocks noGrp="1"/>
          </p:cNvSpPr>
          <p:nvPr/>
        </p:nvSpPr>
        <p:spPr>
          <a:xfrm>
            <a:off x="640080" y="1417320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ความก้าวหน้ารวม</a:t>
            </a:r>
            <a:endParaRPr sz="17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23C24B7-7422-43EE-8835-6BACDAE87362}"/>
              </a:ext>
            </a:extLst>
          </p:cNvPr>
          <p:cNvSpPr>
            <a:spLocks noGrp="1"/>
          </p:cNvSpPr>
          <p:nvPr/>
        </p:nvSpPr>
        <p:spPr>
          <a:xfrm>
            <a:off x="658368" y="1847088"/>
            <a:ext cx="10808208" cy="420624"/>
          </a:xfrm>
          <a:prstGeom prst="roundRect">
            <a:avLst/>
          </a:prstGeom>
          <a:solidFill>
            <a:srgbClr val="DFE8F1"/>
          </a:solidFill>
          <a:ln w="12700">
            <a:solidFill>
              <a:srgbClr val="DFE8F1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91554E8-4EEF-48EB-94EC-7900782A72CE}"/>
              </a:ext>
            </a:extLst>
          </p:cNvPr>
          <p:cNvSpPr>
            <a:spLocks noGrp="1"/>
          </p:cNvSpPr>
          <p:nvPr/>
        </p:nvSpPr>
        <p:spPr>
          <a:xfrm>
            <a:off x="658368" y="1847088"/>
            <a:ext cx="8650224" cy="420624"/>
          </a:xfrm>
          <a:prstGeom prst="roundRect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FA1856C-1091-4B3E-94C3-8E94C1153659}"/>
              </a:ext>
            </a:extLst>
          </p:cNvPr>
          <p:cNvSpPr>
            <a:spLocks noGrp="1"/>
          </p:cNvSpPr>
          <p:nvPr/>
        </p:nvSpPr>
        <p:spPr>
          <a:xfrm>
            <a:off x="9646920" y="1810512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8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78%</a:t>
            </a:r>
            <a:endParaRPr sz="1800"/>
          </a:p>
        </p:txBody>
      </p:sp>
      <p:graphicFrame>
        <p:nvGraphicFramePr>
          <p:cNvPr id="33" name="Table 0"/>
          <p:cNvGraphicFramePr/>
          <p:nvPr/>
        </p:nvGraphicFramePr>
        <p:xfrm>
          <a:off x="658368" y="2578608"/>
          <a:ext cx="10808208" cy="2194560"/>
        </p:xfrm>
        <a:graphic>
          <a:graphicData uri="http://schemas.openxmlformats.org/drawingml/2006/table">
            <a:tbl>
              <a:tblPr/>
              <a:tblGrid>
                <a:gridCol w="4480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245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งาน/โมดูล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สถานะ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หลักฐาน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เข้าสู่ระบบและสิทธิ์ผู้ใช้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เสร็จเป็นหลัก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หน้า Login, แยกผู้ดูแลระบบและเจ้าหน้าที่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จัดการองค์ความรู้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เสร็จเป็นหลัก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เพิ่ม แก้ไข เผยแพร่ และค้นหาบทความได้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จัดการเอกสารและไฟล์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กำลังปรับรายละเอียด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มีหน้าอัปโหลด รายการเอกสาร และตัวกรอง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แชท AI และสถิติ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ใช้งานได้บางส่วน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ตอบจากข้อมูลภายใน บันทึกประวัติ และมีหน้าสถิติ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6">
            <a:extLst>
              <a:ext uri="{FF2B5EF4-FFF2-40B4-BE49-F238E27FC236}">
                <a16:creationId xmlns:a16="http://schemas.microsoft.com/office/drawing/2014/main" id="{B0F04C68-41B2-4B06-978C-5498C088F0E3}"/>
              </a:ext>
            </a:extLst>
          </p:cNvPr>
          <p:cNvSpPr>
            <a:spLocks noGrp="1"/>
          </p:cNvSpPr>
          <p:nvPr/>
        </p:nvSpPr>
        <p:spPr>
          <a:xfrm>
            <a:off x="658368" y="5193792"/>
            <a:ext cx="10808208" cy="749808"/>
          </a:xfrm>
          <a:prstGeom prst="roundRect">
            <a:avLst/>
          </a:prstGeom>
          <a:solidFill>
            <a:srgbClr val="FFF8E8"/>
          </a:solidFill>
          <a:ln w="12700">
            <a:solidFill>
              <a:srgbClr val="E7C46B"/>
            </a:solidFill>
            <a:prstDash val="solid"/>
          </a:ln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E4DF50D8-3138-4003-A24F-4DD8E00CBB35}"/>
              </a:ext>
            </a:extLst>
          </p:cNvPr>
          <p:cNvSpPr>
            <a:spLocks noGrp="1"/>
          </p:cNvSpPr>
          <p:nvPr/>
        </p:nvSpPr>
        <p:spPr>
          <a:xfrm>
            <a:off x="822960" y="530352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>
                <a:solidFill>
                  <a:srgbClr val="C47F17"/>
                </a:solidFill>
                <a:latin typeface="Noto Sans Thai"/>
                <a:ea typeface="Noto Sans Thai"/>
                <a:cs typeface="Noto Sans Thai"/>
              </a:rPr>
              <a:t>หมายเหตุ</a:t>
            </a:r>
            <a:endParaRPr sz="110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8B74A8EE-29EC-4F41-80DC-251AC21FAAAB}"/>
              </a:ext>
            </a:extLst>
          </p:cNvPr>
          <p:cNvSpPr>
            <a:spLocks noGrp="1"/>
          </p:cNvSpPr>
          <p:nvPr/>
        </p:nvSpPr>
        <p:spPr>
          <a:xfrm>
            <a:off x="1801368" y="5285232"/>
            <a:ext cx="9509760" cy="58521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6B4F1D"/>
                </a:solidFill>
                <a:latin typeface="Noto Sans Thai"/>
                <a:ea typeface="Noto Sans Thai"/>
                <a:cs typeface="Noto Sans Thai"/>
              </a:rPr>
              <a:t>ตัวเลขนี้ประเมินจากฟังก์ชันหลักที่พัฒนาแล้ว การเชื่อมฐานข้อมูล และส่วนที่ยังต้องทดสอบเพิ่มเติมก่อนส่งงานสมบูรณ์</a:t>
            </a:r>
            <a:endParaRPr sz="115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2B44489B-01D8-46D9-80E3-83CD5DF5A7FD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</p:spPr>
        <p:txBody>
          <a:bodyPr/>
          <a:lstStyle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>
            <a:pPr algn="l">
              <a:buNone/>
            </a:pPr>
            <a:fld id="{F7021451-1387-4CA6-816F-3879F97B5CBC}" type="slidenum">
              <a:rPr b="0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49340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88F834A-9324-4FC4-A62E-6FAAC7F8CF65}"/>
              </a:ext>
            </a:extLst>
          </p:cNvPr>
          <p:cNvSpPr>
            <a:spLocks noGrp="1"/>
          </p:cNvSpPr>
          <p:nvPr/>
        </p:nvSpPr>
        <p:spPr>
          <a:xfrm>
            <a:off x="502920" y="393192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3. การออกแบบและวิธีดำเนินงาน</a:t>
            </a:r>
            <a:endParaRPr sz="25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1AB5A73-A893-48CF-99BA-BAFA8D297E1C}"/>
              </a:ext>
            </a:extLst>
          </p:cNvPr>
          <p:cNvSpPr>
            <a:spLocks noGrp="1"/>
          </p:cNvSpPr>
          <p:nvPr/>
        </p:nvSpPr>
        <p:spPr>
          <a:xfrm>
            <a:off x="530352" y="923544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ระบบใช้เว็บแอปเป็นศูนย์กลาง เชื่อมฐานข้อมูล บทความ เอกสาร และบริการ AI</a:t>
            </a:r>
            <a:endParaRPr sz="125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3A91788-4230-4761-97F1-C88076C0219F}"/>
              </a:ext>
            </a:extLst>
          </p:cNvPr>
          <p:cNvSpPr>
            <a:spLocks noGrp="1"/>
          </p:cNvSpPr>
          <p:nvPr/>
        </p:nvSpPr>
        <p:spPr>
          <a:xfrm>
            <a:off x="640080" y="1417320"/>
            <a:ext cx="530352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5240" dist="50800" dir="2700000" algn="bl" rotWithShape="0">
              <a:srgbClr val="C7D2DE">
                <a:alpha val="16000"/>
              </a:srgbClr>
            </a:outerShdw>
          </a:effectLst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A992673-E9B9-4E48-8F89-9DF569E797BE}"/>
              </a:ext>
            </a:extLst>
          </p:cNvPr>
          <p:cNvSpPr>
            <a:spLocks noGrp="1"/>
          </p:cNvSpPr>
          <p:nvPr/>
        </p:nvSpPr>
        <p:spPr>
          <a:xfrm>
            <a:off x="640080" y="1417320"/>
            <a:ext cx="73152" cy="3154680"/>
          </a:xfrm>
          <a:prstGeom prst="rect">
            <a:avLst/>
          </a:prstGeom>
          <a:solidFill>
            <a:srgbClr val="3178C6"/>
          </a:solidFill>
          <a:ln w="12700">
            <a:solidFill>
              <a:srgbClr val="3178C6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1E68BB2-8928-45F5-BBFF-5BD803C9E14C}"/>
              </a:ext>
            </a:extLst>
          </p:cNvPr>
          <p:cNvSpPr>
            <a:spLocks noGrp="1"/>
          </p:cNvSpPr>
          <p:nvPr/>
        </p:nvSpPr>
        <p:spPr>
          <a:xfrm>
            <a:off x="841248" y="1554480"/>
            <a:ext cx="4956048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ภาพรวมการทำงานของระบบ</a:t>
            </a:r>
            <a:endParaRPr sz="15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5345681-B343-4A03-80CD-0D82445554AD}"/>
              </a:ext>
            </a:extLst>
          </p:cNvPr>
          <p:cNvSpPr>
            <a:spLocks noGrp="1"/>
          </p:cNvSpPr>
          <p:nvPr/>
        </p:nvSpPr>
        <p:spPr>
          <a:xfrm>
            <a:off x="841248" y="1947672"/>
            <a:ext cx="4937760" cy="2478024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ผู้ใช้เข้าสู่ระบบ</a:t>
            </a:r>
            <a:endParaRPr sz="1250"/>
          </a:p>
          <a:p>
            <a:pPr marL="0" indent="0">
              <a:buNone/>
            </a:pPr>
            <a:r>
              <a:t>ตรวจสอบบทบาทและสิทธิ์</a:t>
            </a:r>
            <a:endParaRPr sz="1250"/>
          </a:p>
          <a:p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จัดการบทความหรือเอกสาร</a:t>
            </a:r>
            <a:endParaRPr sz="1250"/>
          </a:p>
          <a:p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ค้นหาข้อมูลหรือถาม AI</a:t>
            </a:r>
            <a:endParaRPr sz="1250"/>
          </a:p>
          <a:p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ระบบบันทึกผลและสถิติการใช้งาน</a:t>
            </a:r>
            <a:endParaRPr sz="125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6B05DEC-86FB-467A-88C6-E96D89720126}"/>
              </a:ext>
            </a:extLst>
          </p:cNvPr>
          <p:cNvSpPr>
            <a:spLocks noGrp="1"/>
          </p:cNvSpPr>
          <p:nvPr/>
        </p:nvSpPr>
        <p:spPr>
          <a:xfrm>
            <a:off x="6199632" y="1417320"/>
            <a:ext cx="530352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5240" dist="50800" dir="2700000" algn="bl" rotWithShape="0">
              <a:srgbClr val="C7D2DE">
                <a:alpha val="16000"/>
              </a:srgbClr>
            </a:outerShdw>
          </a:effectLst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9A8480E-39A2-4846-AEED-50F37E6274BE}"/>
              </a:ext>
            </a:extLst>
          </p:cNvPr>
          <p:cNvSpPr>
            <a:spLocks noGrp="1"/>
          </p:cNvSpPr>
          <p:nvPr/>
        </p:nvSpPr>
        <p:spPr>
          <a:xfrm>
            <a:off x="6199632" y="1417320"/>
            <a:ext cx="73152" cy="3154680"/>
          </a:xfrm>
          <a:prstGeom prst="rect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8C45E36-417D-4F89-884B-5DEA756F31C3}"/>
              </a:ext>
            </a:extLst>
          </p:cNvPr>
          <p:cNvSpPr>
            <a:spLocks noGrp="1"/>
          </p:cNvSpPr>
          <p:nvPr/>
        </p:nvSpPr>
        <p:spPr>
          <a:xfrm>
            <a:off x="6400800" y="1554480"/>
            <a:ext cx="4956048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เครื่องมือที่ใช้</a:t>
            </a:r>
            <a:endParaRPr sz="15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7804DB1-7D4D-4935-A0D2-EF6E84042618}"/>
              </a:ext>
            </a:extLst>
          </p:cNvPr>
          <p:cNvSpPr>
            <a:spLocks noGrp="1"/>
          </p:cNvSpPr>
          <p:nvPr/>
        </p:nvSpPr>
        <p:spPr>
          <a:xfrm>
            <a:off x="6400800" y="1947672"/>
            <a:ext cx="4937760" cy="2478024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Next.js: โครงเว็บและหน้าจอระบบ</a:t>
            </a:r>
            <a:endParaRPr sz="1250"/>
          </a:p>
          <a:p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Supabase: ฐานข้อมูล เข้าสู่ระบบ และเก็บไฟล์</a:t>
            </a:r>
            <a:endParaRPr sz="1250"/>
          </a:p>
          <a:p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OpenAI: ช่วยตอบคำถามและประมวลผลภาษา</a:t>
            </a:r>
            <a:endParaRPr sz="1250"/>
          </a:p>
          <a:p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Tailwind CSS: จัดหน้าตาเว็บให้ใช้งานง่าย</a:t>
            </a:r>
            <a:endParaRPr sz="125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AC0F60C2-0DDE-4839-87C3-D26C5AD08A78}"/>
              </a:ext>
            </a:extLst>
          </p:cNvPr>
          <p:cNvSpPr>
            <a:spLocks noGrp="1"/>
          </p:cNvSpPr>
          <p:nvPr/>
        </p:nvSpPr>
        <p:spPr>
          <a:xfrm>
            <a:off x="640080" y="4828032"/>
            <a:ext cx="10863072" cy="841248"/>
          </a:xfrm>
          <a:prstGeom prst="roundRect">
            <a:avLst/>
          </a:prstGeom>
          <a:solidFill>
            <a:srgbClr val="FFF8E8"/>
          </a:solidFill>
          <a:ln w="12700">
            <a:solidFill>
              <a:srgbClr val="E7C46B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6AF6598-AD71-4467-80AB-E81A00566A12}"/>
              </a:ext>
            </a:extLst>
          </p:cNvPr>
          <p:cNvSpPr>
            <a:spLocks noGrp="1"/>
          </p:cNvSpPr>
          <p:nvPr/>
        </p:nvSpPr>
        <p:spPr>
          <a:xfrm>
            <a:off x="804672" y="493776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>
                <a:solidFill>
                  <a:srgbClr val="C47F17"/>
                </a:solidFill>
                <a:latin typeface="Noto Sans Thai"/>
                <a:ea typeface="Noto Sans Thai"/>
                <a:cs typeface="Noto Sans Thai"/>
              </a:rPr>
              <a:t>แนวทาง</a:t>
            </a:r>
            <a:endParaRPr sz="11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05B1B7F-1158-4DCD-BA3C-4998CFE658DE}"/>
              </a:ext>
            </a:extLst>
          </p:cNvPr>
          <p:cNvSpPr>
            <a:spLocks noGrp="1"/>
          </p:cNvSpPr>
          <p:nvPr/>
        </p:nvSpPr>
        <p:spPr>
          <a:xfrm>
            <a:off x="1783080" y="4919472"/>
            <a:ext cx="9564624" cy="6766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6B4F1D"/>
                </a:solidFill>
                <a:latin typeface="Noto Sans Thai"/>
                <a:ea typeface="Noto Sans Thai"/>
                <a:cs typeface="Noto Sans Thai"/>
              </a:rPr>
              <a:t>เน้นระบบที่ใช้งานได้จริงก่อน ได้แก่ ล็อกอิน ข้อมูลความรู้ เอกสาร แชท AI และสถิติ จากนั้นค่อยทดสอบและปรับความแม่นยำ</a:t>
            </a:r>
            <a:endParaRPr sz="115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B6F9415A-D386-46BE-8375-C0CAC5E7199A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</p:spPr>
        <p:txBody>
          <a:bodyPr/>
          <a:lstStyle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>
            <a:pPr algn="l">
              <a:buNone/>
            </a:pPr>
            <a:fld id="{F7021451-1387-4CA6-816F-3879F97B5CBC}" type="slidenum">
              <a:rPr b="0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80842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6DCC050-E0BB-405A-8EFD-E626CB35D8BC}"/>
              </a:ext>
            </a:extLst>
          </p:cNvPr>
          <p:cNvSpPr>
            <a:spLocks noGrp="1"/>
          </p:cNvSpPr>
          <p:nvPr/>
        </p:nvSpPr>
        <p:spPr>
          <a:xfrm>
            <a:off x="502920" y="393192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4. ผลงานที่ดำเนินการเสร็จแล้ว</a:t>
            </a:r>
            <a:endParaRPr sz="25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E9222B4-AC6A-4E1A-850B-3025FA256648}"/>
              </a:ext>
            </a:extLst>
          </p:cNvPr>
          <p:cNvSpPr>
            <a:spLocks noGrp="1"/>
          </p:cNvSpPr>
          <p:nvPr/>
        </p:nvSpPr>
        <p:spPr>
          <a:xfrm>
            <a:off x="530352" y="923544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ส่วนที่ทำได้แล้วเป็นฟังก์ชันหลักที่สามารถเปิดสาธิตจากระบบจริง</a:t>
            </a:r>
            <a:endParaRPr sz="125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CA33A96-B4D8-4D9D-98C3-271CD2711849}"/>
              </a:ext>
            </a:extLst>
          </p:cNvPr>
          <p:cNvSpPr>
            <a:spLocks noGrp="1"/>
          </p:cNvSpPr>
          <p:nvPr/>
        </p:nvSpPr>
        <p:spPr>
          <a:xfrm>
            <a:off x="658368" y="1417320"/>
            <a:ext cx="34290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5240" dist="50800" dir="2700000" algn="bl" rotWithShape="0">
              <a:srgbClr val="C7D2DE">
                <a:alpha val="16000"/>
              </a:srgbClr>
            </a:outerShdw>
          </a:effectLst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0FD2E37-BA6E-45DB-94DE-D17CC107C7D2}"/>
              </a:ext>
            </a:extLst>
          </p:cNvPr>
          <p:cNvSpPr>
            <a:spLocks noGrp="1"/>
          </p:cNvSpPr>
          <p:nvPr/>
        </p:nvSpPr>
        <p:spPr>
          <a:xfrm>
            <a:off x="658368" y="1417320"/>
            <a:ext cx="73152" cy="338328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ACD3696-C222-46E9-BA05-150858ABEC44}"/>
              </a:ext>
            </a:extLst>
          </p:cNvPr>
          <p:cNvSpPr>
            <a:spLocks noGrp="1"/>
          </p:cNvSpPr>
          <p:nvPr/>
        </p:nvSpPr>
        <p:spPr>
          <a:xfrm>
            <a:off x="859536" y="1554480"/>
            <a:ext cx="3081528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หน้าผู้ดูแลระบบ</a:t>
            </a:r>
            <a:endParaRPr sz="15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8662FEA-DB61-429B-B2F8-43F4375FA853}"/>
              </a:ext>
            </a:extLst>
          </p:cNvPr>
          <p:cNvSpPr>
            <a:spLocks noGrp="1"/>
          </p:cNvSpPr>
          <p:nvPr/>
        </p:nvSpPr>
        <p:spPr>
          <a:xfrm>
            <a:off x="859536" y="1947672"/>
            <a:ext cx="3063240" cy="2706624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มีแดชบอร์ดแสดงภาพรวม จำนวนข้อมูลความรู้ ข้อมูลที่เผยแพร่ และจำนวนผู้ใช้งาน</a:t>
            </a:r>
            <a:endParaRPr sz="1250"/>
          </a:p>
          <a:p>
            <a:pPr marL="0" indent="0">
              <a:buNone/>
            </a:pPr>
            <a:r>
              <a:t>ใช้สำหรับติดตามสถานะของระบบ</a:t>
            </a:r>
            <a:endParaRPr sz="125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5E96E32-115F-4B4B-8AA9-548FBAC6DE68}"/>
              </a:ext>
            </a:extLst>
          </p:cNvPr>
          <p:cNvSpPr>
            <a:spLocks noGrp="1"/>
          </p:cNvSpPr>
          <p:nvPr/>
        </p:nvSpPr>
        <p:spPr>
          <a:xfrm>
            <a:off x="4370832" y="1417320"/>
            <a:ext cx="34290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5240" dist="50800" dir="2700000" algn="bl" rotWithShape="0">
              <a:srgbClr val="C7D2DE">
                <a:alpha val="16000"/>
              </a:srgbClr>
            </a:outerShdw>
          </a:effectLst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7688D3B-3F35-43B2-83B9-626CC6B4E558}"/>
              </a:ext>
            </a:extLst>
          </p:cNvPr>
          <p:cNvSpPr>
            <a:spLocks noGrp="1"/>
          </p:cNvSpPr>
          <p:nvPr/>
        </p:nvSpPr>
        <p:spPr>
          <a:xfrm>
            <a:off x="4370832" y="1417320"/>
            <a:ext cx="73152" cy="338328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5A8D147-4EB2-42C2-BBA6-239EA3B298DA}"/>
              </a:ext>
            </a:extLst>
          </p:cNvPr>
          <p:cNvSpPr>
            <a:spLocks noGrp="1"/>
          </p:cNvSpPr>
          <p:nvPr/>
        </p:nvSpPr>
        <p:spPr>
          <a:xfrm>
            <a:off x="4572000" y="1554480"/>
            <a:ext cx="3081528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คลังความรู้และเอกสาร</a:t>
            </a:r>
            <a:endParaRPr sz="15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6691898-53A3-4865-BA7E-F15B054F67B8}"/>
              </a:ext>
            </a:extLst>
          </p:cNvPr>
          <p:cNvSpPr>
            <a:spLocks noGrp="1"/>
          </p:cNvSpPr>
          <p:nvPr/>
        </p:nvSpPr>
        <p:spPr>
          <a:xfrm>
            <a:off x="4572000" y="1947672"/>
            <a:ext cx="3063240" cy="2706624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เพิ่ม แก้ไข และจัดสถานะข้อมูลความรู้ได้</a:t>
            </a:r>
            <a:endParaRPr sz="1250"/>
          </a:p>
          <a:p>
            <a:pPr marL="0" indent="0">
              <a:buNone/>
            </a:pPr>
            <a:r>
              <a:t>มีหน้าเอกสารพร้อมการค้นหาและตัวกรอง เพื่อเตรียมข้อมูลให้ AI ใช้งาน</a:t>
            </a:r>
            <a:endParaRPr sz="125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EF1EB46A-A76A-422F-A55A-4052450EB077}"/>
              </a:ext>
            </a:extLst>
          </p:cNvPr>
          <p:cNvSpPr>
            <a:spLocks noGrp="1"/>
          </p:cNvSpPr>
          <p:nvPr/>
        </p:nvSpPr>
        <p:spPr>
          <a:xfrm>
            <a:off x="8083296" y="1417320"/>
            <a:ext cx="34290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5240" dist="50800" dir="2700000" algn="bl" rotWithShape="0">
              <a:srgbClr val="C7D2DE">
                <a:alpha val="16000"/>
              </a:srgbClr>
            </a:outerShdw>
          </a:effectLst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8ED68B1-9734-462A-BF5E-882881482BA5}"/>
              </a:ext>
            </a:extLst>
          </p:cNvPr>
          <p:cNvSpPr>
            <a:spLocks noGrp="1"/>
          </p:cNvSpPr>
          <p:nvPr/>
        </p:nvSpPr>
        <p:spPr>
          <a:xfrm>
            <a:off x="8083296" y="1417320"/>
            <a:ext cx="73152" cy="338328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4B03CE7-6E20-4368-80FB-B1FDB32E7FD0}"/>
              </a:ext>
            </a:extLst>
          </p:cNvPr>
          <p:cNvSpPr>
            <a:spLocks noGrp="1"/>
          </p:cNvSpPr>
          <p:nvPr/>
        </p:nvSpPr>
        <p:spPr>
          <a:xfrm>
            <a:off x="8284464" y="1554480"/>
            <a:ext cx="3081528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แชท AI และสถิติ</a:t>
            </a:r>
            <a:endParaRPr sz="15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92B872C-5F84-426D-9BC2-8896740E1D94}"/>
              </a:ext>
            </a:extLst>
          </p:cNvPr>
          <p:cNvSpPr>
            <a:spLocks noGrp="1"/>
          </p:cNvSpPr>
          <p:nvPr/>
        </p:nvSpPr>
        <p:spPr>
          <a:xfrm>
            <a:off x="8284464" y="1947672"/>
            <a:ext cx="3063240" cy="2706624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ผู้ใช้ถามคำถามเป็นภาษาไทยได้</a:t>
            </a:r>
            <a:endParaRPr sz="1250"/>
          </a:p>
          <a:p>
            <a:pPr marL="0" indent="0">
              <a:buNone/>
            </a:pPr>
            <a:r>
              <a:t>ระบบค้นหาข้อมูลที่เกี่ยวข้องและบันทึกสถิติ เพื่อดูคำถามที่พบบ่อยหรือจุดที่ข้อมูลยังไม่ครบ</a:t>
            </a:r>
            <a:endParaRPr sz="125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9231E828-647C-4AD1-9489-031BD49B4940}"/>
              </a:ext>
            </a:extLst>
          </p:cNvPr>
          <p:cNvSpPr>
            <a:spLocks noGrp="1"/>
          </p:cNvSpPr>
          <p:nvPr/>
        </p:nvSpPr>
        <p:spPr>
          <a:xfrm>
            <a:off x="658368" y="5074920"/>
            <a:ext cx="10853928" cy="749808"/>
          </a:xfrm>
          <a:prstGeom prst="roundRect">
            <a:avLst/>
          </a:prstGeom>
          <a:solidFill>
            <a:srgbClr val="FFF8E8"/>
          </a:solidFill>
          <a:ln w="12700">
            <a:solidFill>
              <a:srgbClr val="E7C46B"/>
            </a:solidFill>
            <a:prstDash val="solid"/>
          </a:ln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265CF4E-FAD4-42CA-8D3D-33BCB2056DC7}"/>
              </a:ext>
            </a:extLst>
          </p:cNvPr>
          <p:cNvSpPr>
            <a:spLocks noGrp="1"/>
          </p:cNvSpPr>
          <p:nvPr/>
        </p:nvSpPr>
        <p:spPr>
          <a:xfrm>
            <a:off x="822960" y="5184648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>
                <a:solidFill>
                  <a:srgbClr val="C47F17"/>
                </a:solidFill>
                <a:latin typeface="Noto Sans Thai"/>
                <a:ea typeface="Noto Sans Thai"/>
                <a:cs typeface="Noto Sans Thai"/>
              </a:rPr>
              <a:t>หลักฐาน</a:t>
            </a:r>
            <a:endParaRPr sz="11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E0D4056B-8A89-4FC4-A163-24478C3F56FD}"/>
              </a:ext>
            </a:extLst>
          </p:cNvPr>
          <p:cNvSpPr>
            <a:spLocks noGrp="1"/>
          </p:cNvSpPr>
          <p:nvPr/>
        </p:nvSpPr>
        <p:spPr>
          <a:xfrm>
            <a:off x="1801368" y="5166360"/>
            <a:ext cx="9555480" cy="58521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6B4F1D"/>
                </a:solidFill>
                <a:latin typeface="Noto Sans Thai"/>
                <a:ea typeface="Noto Sans Thai"/>
                <a:cs typeface="Noto Sans Thai"/>
              </a:rPr>
              <a:t>มีหน้าเว็บจริง โค้ดระบบ ฐานข้อมูล และหน้าจอที่สามารถสาธิตการทำงานหลักได้</a:t>
            </a:r>
            <a:endParaRPr sz="115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3716E1EC-117B-4689-8B64-82CA804DA03D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</p:spPr>
        <p:txBody>
          <a:bodyPr/>
          <a:lstStyle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>
            <a:pPr algn="l">
              <a:buNone/>
            </a:pPr>
            <a:fld id="{F7021451-1387-4CA6-816F-3879F97B5CBC}" type="slidenum">
              <a:rPr b="0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9891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7BBDA6D-FC5C-47A1-8852-CA56A68D70D7}"/>
              </a:ext>
            </a:extLst>
          </p:cNvPr>
          <p:cNvSpPr>
            <a:spLocks noGrp="1"/>
          </p:cNvSpPr>
          <p:nvPr/>
        </p:nvSpPr>
        <p:spPr>
          <a:xfrm>
            <a:off x="502920" y="393192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5. การทดสอบและผลที่ได้</a:t>
            </a:r>
            <a:endParaRPr sz="25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DFC43EE-6019-49A4-BA36-C4F10788A885}"/>
              </a:ext>
            </a:extLst>
          </p:cNvPr>
          <p:cNvSpPr>
            <a:spLocks noGrp="1"/>
          </p:cNvSpPr>
          <p:nvPr/>
        </p:nvSpPr>
        <p:spPr>
          <a:xfrm>
            <a:off x="530352" y="923544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แสดงหลักฐานว่าผลงานไม่ได้เพียง “ทำเสร็จ” แต่ผ่านการทดสอบบางส่วนแล้ว</a:t>
            </a:r>
            <a:endParaRPr sz="1250"/>
          </a:p>
        </p:txBody>
      </p:sp>
      <p:graphicFrame>
        <p:nvGraphicFramePr>
          <p:cNvPr id="29" name="Table 0"/>
          <p:cNvGraphicFramePr/>
          <p:nvPr/>
        </p:nvGraphicFramePr>
        <p:xfrm>
          <a:off x="621792" y="1490472"/>
          <a:ext cx="10936224" cy="1901952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951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รายการทดสอบ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วิธีทดสอบ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ผลที่คาดหวัง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ผลที่ได้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สถานะ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เข้าสู่ระบบ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ลองบัญชีผู้ดูแลและเจ้าหน้าที่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เข้าหน้าตามสิทธิ์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ทำงานได้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ผ่าน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บทความความรู้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เพิ่ม แก้ไข เผยแพร่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ข้อมูลถูกบันทึกและแสดงผล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ทำงานได้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ผ่าน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แชท AI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ถามคำถามจากข้อมูลในระบบ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ตอบเป็นภาษาไทยและอ้างอิงข้อมูล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ยังต้องปรับความแม่นยำ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กำลังปรับ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>
            <a:extLst>
              <a:ext uri="{FF2B5EF4-FFF2-40B4-BE49-F238E27FC236}">
                <a16:creationId xmlns:a16="http://schemas.microsoft.com/office/drawing/2014/main" id="{9BA11A52-CE82-45DE-8D46-2F250F42F5C5}"/>
              </a:ext>
            </a:extLst>
          </p:cNvPr>
          <p:cNvSpPr>
            <a:spLocks noGrp="1"/>
          </p:cNvSpPr>
          <p:nvPr/>
        </p:nvSpPr>
        <p:spPr>
          <a:xfrm>
            <a:off x="621792" y="4096512"/>
            <a:ext cx="53035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5240" dist="50800" dir="2700000" algn="bl" rotWithShape="0">
              <a:srgbClr val="C7D2DE">
                <a:alpha val="16000"/>
              </a:srgbClr>
            </a:outerShdw>
          </a:effectLst>
        </p:spPr>
        <p:txBody>
          <a:bodyPr/>
          <a:lstStyle/>
          <a:p>
            <a:r>
              <a:rPr dirty="0"/>
              <a:t>5. </a:t>
            </a:r>
            <a:r>
              <a:rPr dirty="0" err="1"/>
              <a:t>การทดสอบเบื้องต้น</a:t>
            </a:r>
            <a:endParaRPr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A8F15B90-1B1B-44F4-94CF-3B777A123FE1}"/>
              </a:ext>
            </a:extLst>
          </p:cNvPr>
          <p:cNvSpPr>
            <a:spLocks noGrp="1"/>
          </p:cNvSpPr>
          <p:nvPr/>
        </p:nvSpPr>
        <p:spPr>
          <a:xfrm>
            <a:off x="621792" y="4096512"/>
            <a:ext cx="73152" cy="1170432"/>
          </a:xfrm>
          <a:prstGeom prst="rect">
            <a:avLst/>
          </a:prstGeom>
          <a:solidFill>
            <a:srgbClr val="3178C6"/>
          </a:solidFill>
          <a:ln w="12700">
            <a:solidFill>
              <a:srgbClr val="3178C6"/>
            </a:solidFill>
            <a:prstDash val="solid"/>
          </a:ln>
        </p:spPr>
        <p:txBody>
          <a:bodyPr/>
          <a:lstStyle/>
          <a:p>
            <a:endParaRPr lang="th-TH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68210E2F-3ABC-4518-ADDC-E8558492B633}"/>
              </a:ext>
            </a:extLst>
          </p:cNvPr>
          <p:cNvSpPr>
            <a:spLocks noGrp="1"/>
          </p:cNvSpPr>
          <p:nvPr/>
        </p:nvSpPr>
        <p:spPr>
          <a:xfrm>
            <a:off x="822960" y="4233672"/>
            <a:ext cx="4956048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endParaRPr sz="15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2B0818E4-774B-4ECC-972B-5A92BCA9AD9D}"/>
              </a:ext>
            </a:extLst>
          </p:cNvPr>
          <p:cNvSpPr>
            <a:spLocks noGrp="1"/>
          </p:cNvSpPr>
          <p:nvPr/>
        </p:nvSpPr>
        <p:spPr>
          <a:xfrm>
            <a:off x="822960" y="4626864"/>
            <a:ext cx="4937760" cy="493776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0" indent="0">
              <a:buNone/>
            </a:pPr>
            <a:r>
              <a:rPr sz="1250" dirty="0" err="1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ทดสอบจากการเข้าใช้งานจริงของแต่ละหน้า</a:t>
            </a:r>
            <a:r>
              <a:rPr sz="1250" dirty="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 </a:t>
            </a:r>
            <a:r>
              <a:rPr sz="1250" dirty="0" err="1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ตรวจการบันทึกข้อมูล</a:t>
            </a:r>
            <a:r>
              <a:rPr sz="1250" dirty="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 </a:t>
            </a:r>
            <a:r>
              <a:rPr sz="1250" dirty="0" err="1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และตรวจการตอบกลับของ</a:t>
            </a:r>
            <a:r>
              <a:rPr sz="1250" dirty="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 AI </a:t>
            </a:r>
            <a:r>
              <a:rPr sz="1250" dirty="0" err="1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จากข้อมูลภายใน</a:t>
            </a:r>
            <a:endParaRPr sz="125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8EB51865-694B-4385-87C6-9CE340781425}"/>
              </a:ext>
            </a:extLst>
          </p:cNvPr>
          <p:cNvSpPr>
            <a:spLocks noGrp="1"/>
          </p:cNvSpPr>
          <p:nvPr/>
        </p:nvSpPr>
        <p:spPr>
          <a:xfrm>
            <a:off x="6199632" y="4096512"/>
            <a:ext cx="5358384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5240" dist="50800" dir="2700000" algn="bl" rotWithShape="0">
              <a:srgbClr val="C7D2DE">
                <a:alpha val="16000"/>
              </a:srgbClr>
            </a:outerShdw>
          </a:effectLst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A88F53C1-2D56-4BDE-8AA6-E076BDCA3506}"/>
              </a:ext>
            </a:extLst>
          </p:cNvPr>
          <p:cNvSpPr>
            <a:spLocks noGrp="1"/>
          </p:cNvSpPr>
          <p:nvPr/>
        </p:nvSpPr>
        <p:spPr>
          <a:xfrm>
            <a:off x="6199632" y="4096512"/>
            <a:ext cx="73152" cy="1170432"/>
          </a:xfrm>
          <a:prstGeom prst="rect">
            <a:avLst/>
          </a:prstGeom>
          <a:solidFill>
            <a:srgbClr val="C47F17"/>
          </a:solidFill>
          <a:ln w="12700">
            <a:solidFill>
              <a:srgbClr val="C47F17"/>
            </a:solidFill>
            <a:prstDash val="solid"/>
          </a:ln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D82B0DC0-DF7F-4364-B96E-B0522FBCD2DF}"/>
              </a:ext>
            </a:extLst>
          </p:cNvPr>
          <p:cNvSpPr>
            <a:spLocks noGrp="1"/>
          </p:cNvSpPr>
          <p:nvPr/>
        </p:nvSpPr>
        <p:spPr>
          <a:xfrm>
            <a:off x="6400800" y="4233672"/>
            <a:ext cx="5010912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ข้อค้นพบ</a:t>
            </a:r>
            <a:endParaRPr sz="150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D6834D4E-0352-41D4-A471-FA22C71F7B57}"/>
              </a:ext>
            </a:extLst>
          </p:cNvPr>
          <p:cNvSpPr>
            <a:spLocks noGrp="1"/>
          </p:cNvSpPr>
          <p:nvPr/>
        </p:nvSpPr>
        <p:spPr>
          <a:xfrm>
            <a:off x="6400800" y="4626864"/>
            <a:ext cx="4992624" cy="493776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ส่วนหลักทำงานได้ แต่ยังต้องเพิ่มข้อมูลตัวอย่าง ทดสอบหลายบัญชี และปรับคำตอบ AI ให้แม่นยำขึ้น</a:t>
            </a:r>
            <a:endParaRPr sz="125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DA3053AC-213D-4DAD-A2DF-68754D8F37B7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</p:spPr>
        <p:txBody>
          <a:bodyPr/>
          <a:lstStyle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>
            <a:pPr algn="l">
              <a:buNone/>
            </a:pPr>
            <a:fld id="{F7021451-1387-4CA6-816F-3879F97B5CBC}" type="slidenum">
              <a:rPr b="0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067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E986866-ED0F-4B8E-99AA-3734AF5DA0F1}"/>
              </a:ext>
            </a:extLst>
          </p:cNvPr>
          <p:cNvSpPr>
            <a:spLocks noGrp="1"/>
          </p:cNvSpPr>
          <p:nvPr/>
        </p:nvSpPr>
        <p:spPr>
          <a:xfrm>
            <a:off x="502920" y="393192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6. ปัญหา อุปสรรค และการแก้ไข</a:t>
            </a:r>
            <a:endParaRPr sz="25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F502DFE-B7FF-414A-AD61-A656175FC7FA}"/>
              </a:ext>
            </a:extLst>
          </p:cNvPr>
          <p:cNvSpPr>
            <a:spLocks noGrp="1"/>
          </p:cNvSpPr>
          <p:nvPr/>
        </p:nvSpPr>
        <p:spPr>
          <a:xfrm>
            <a:off x="530352" y="923544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ระหว่างพัฒนาพบข้อจำกัดด้านโครงสร้างข้อมูล สิทธิ์ผู้ใช้ และความแม่นยำของคำตอบ AI</a:t>
            </a:r>
            <a:endParaRPr sz="1250"/>
          </a:p>
        </p:txBody>
      </p:sp>
      <p:graphicFrame>
        <p:nvGraphicFramePr>
          <p:cNvPr id="29" name="Table 0"/>
          <p:cNvGraphicFramePr/>
          <p:nvPr/>
        </p:nvGraphicFramePr>
        <p:xfrm>
          <a:off x="640080" y="1527048"/>
          <a:ext cx="10881360" cy="288036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ปัญหาที่พบ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สาเหตุ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แนวทางแก้ไขที่ดำเนินการ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ผลหลังแก้ไข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สิทธิ์ผู้ใช้ซับซ้อน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มีหลายบทบาทในระบบ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แยกเส้นทางผู้ดูแลและเจ้าหน้าที่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ควบคุมการเข้าถึงได้ดีขึ้น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ข้อมูลเอกสารยังไม่สม่ำเสมอ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ไฟล์และบทความมีรูปแบบต่างกัน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เพิ่มหน้าจัดการเอกสารและสถานะ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เตรียมข้อมูลได้เป็นระบบขึ้น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AI บางครั้งตอบกว้างเกินไป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ข้อมูลอ้างอิงยังไม่ครบ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ให้ระบบดึงบทความที่เกี่ยวข้องก่อนตอบ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คำตอบเริ่มตรงกับข้อมูลภายในมากขึ้น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>
            <a:extLst>
              <a:ext uri="{FF2B5EF4-FFF2-40B4-BE49-F238E27FC236}">
                <a16:creationId xmlns:a16="http://schemas.microsoft.com/office/drawing/2014/main" id="{FDB102CC-9C42-41C0-A6C2-7FE57D7875CB}"/>
              </a:ext>
            </a:extLst>
          </p:cNvPr>
          <p:cNvSpPr>
            <a:spLocks noGrp="1"/>
          </p:cNvSpPr>
          <p:nvPr/>
        </p:nvSpPr>
        <p:spPr>
          <a:xfrm>
            <a:off x="640080" y="4718304"/>
            <a:ext cx="10881360" cy="868680"/>
          </a:xfrm>
          <a:prstGeom prst="roundRect">
            <a:avLst/>
          </a:prstGeom>
          <a:solidFill>
            <a:srgbClr val="FFF8E8"/>
          </a:solidFill>
          <a:ln w="12700">
            <a:solidFill>
              <a:srgbClr val="E7C46B"/>
            </a:solidFill>
            <a:prstDash val="solid"/>
          </a:ln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460F53D-0D1D-4E8F-B6AA-1FC1CD334253}"/>
              </a:ext>
            </a:extLst>
          </p:cNvPr>
          <p:cNvSpPr>
            <a:spLocks noGrp="1"/>
          </p:cNvSpPr>
          <p:nvPr/>
        </p:nvSpPr>
        <p:spPr>
          <a:xfrm>
            <a:off x="804672" y="4828032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>
                <a:solidFill>
                  <a:srgbClr val="C47F17"/>
                </a:solidFill>
                <a:latin typeface="Noto Sans Thai"/>
                <a:ea typeface="Noto Sans Thai"/>
                <a:cs typeface="Noto Sans Thai"/>
              </a:rPr>
              <a:t>สรุป</a:t>
            </a:r>
            <a:endParaRPr sz="110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EECDDE0-BA48-4CD7-9C9B-DF3AB885ABBE}"/>
              </a:ext>
            </a:extLst>
          </p:cNvPr>
          <p:cNvSpPr>
            <a:spLocks noGrp="1"/>
          </p:cNvSpPr>
          <p:nvPr/>
        </p:nvSpPr>
        <p:spPr>
          <a:xfrm>
            <a:off x="1783080" y="4809744"/>
            <a:ext cx="9582912" cy="70408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6B4F1D"/>
                </a:solidFill>
                <a:latin typeface="Noto Sans Thai"/>
                <a:ea typeface="Noto Sans Thai"/>
                <a:cs typeface="Noto Sans Thai"/>
              </a:rPr>
              <a:t>ปัญหาหลักไม่ได้อยู่ที่การสร้างหน้าเว็บเท่านั้น แต่รวมถึงการจัดข้อมูลให้ดีพอสำหรับค้นหาและตอบคำถาม</a:t>
            </a:r>
            <a:endParaRPr sz="115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CED9268A-8959-40E5-B7BF-BC2CB3C10070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</p:spPr>
        <p:txBody>
          <a:bodyPr/>
          <a:lstStyle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>
            <a:pPr algn="l">
              <a:buNone/>
            </a:pPr>
            <a:fld id="{F7021451-1387-4CA6-816F-3879F97B5CBC}" type="slidenum">
              <a:rPr b="0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0798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D29CEA9-0086-47F1-AC05-5BF7929FCB8F}"/>
              </a:ext>
            </a:extLst>
          </p:cNvPr>
          <p:cNvSpPr>
            <a:spLocks noGrp="1"/>
          </p:cNvSpPr>
          <p:nvPr/>
        </p:nvSpPr>
        <p:spPr>
          <a:xfrm>
            <a:off x="502920" y="393192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7. งานที่ยังเหลือและแผนพัฒนาสู่ 100%</a:t>
            </a:r>
            <a:endParaRPr sz="25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083C889-331C-4D90-A869-87707D8948CA}"/>
              </a:ext>
            </a:extLst>
          </p:cNvPr>
          <p:cNvSpPr>
            <a:spLocks noGrp="1"/>
          </p:cNvSpPr>
          <p:nvPr/>
        </p:nvSpPr>
        <p:spPr>
          <a:xfrm>
            <a:off x="530352" y="923544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งานต่อไปเน้นการทดสอบจริง เพิ่มข้อมูลตัวอย่าง และปรับประสบการณ์ใช้งานให้พร้อมส่งงานสมบูรณ์</a:t>
            </a:r>
            <a:endParaRPr sz="1250"/>
          </a:p>
        </p:txBody>
      </p:sp>
      <p:graphicFrame>
        <p:nvGraphicFramePr>
          <p:cNvPr id="29" name="Table 0"/>
          <p:cNvGraphicFramePr/>
          <p:nvPr/>
        </p:nvGraphicFramePr>
        <p:xfrm>
          <a:off x="621792" y="1536192"/>
          <a:ext cx="10954512" cy="23774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49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งานที่เหลือ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สถานะปัจจุบัน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สิ่งที่จะดำเนินการต่อ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เป้าหมาย/หลักฐานเมื่อเสร็จ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ทดสอบกับข้อมูลจริง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มีโครงสร้างรองรับแล้ว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เพิ่มข้อมูลตัวอย่างหลายหมวด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ค้นหาและตอบคำถามได้ครอบคลุม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ปรับหน้าใช้งาน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หน้าหลักทำงานแล้ว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แก้จุดที่ข้อความหรือปุ่มยังไม่ชัด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ผู้ใช้เข้าใจขั้นตอนได้ง่าย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จัดทำรายงานและสาธิต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รวบรวมหลักฐานบางส่วนแล้ว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เก็บภาพหน้าจอ ผลทดสอบ และคู่มือสั้น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พร้อมนำเสนอผลงาน 100%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>
            <a:extLst>
              <a:ext uri="{FF2B5EF4-FFF2-40B4-BE49-F238E27FC236}">
                <a16:creationId xmlns:a16="http://schemas.microsoft.com/office/drawing/2014/main" id="{87AB9ED9-3DFC-44CC-B0A3-C485DE0F0A15}"/>
              </a:ext>
            </a:extLst>
          </p:cNvPr>
          <p:cNvSpPr>
            <a:spLocks noGrp="1"/>
          </p:cNvSpPr>
          <p:nvPr/>
        </p:nvSpPr>
        <p:spPr>
          <a:xfrm>
            <a:off x="621792" y="4709160"/>
            <a:ext cx="10954512" cy="896112"/>
          </a:xfrm>
          <a:prstGeom prst="roundRect">
            <a:avLst/>
          </a:prstGeom>
          <a:solidFill>
            <a:srgbClr val="FFF8E8"/>
          </a:solidFill>
          <a:ln w="12700">
            <a:solidFill>
              <a:srgbClr val="E7C46B"/>
            </a:solidFill>
            <a:prstDash val="solid"/>
          </a:ln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F6E95CB-BDEE-45F5-A102-610A3C9EF9EE}"/>
              </a:ext>
            </a:extLst>
          </p:cNvPr>
          <p:cNvSpPr>
            <a:spLocks noGrp="1"/>
          </p:cNvSpPr>
          <p:nvPr/>
        </p:nvSpPr>
        <p:spPr>
          <a:xfrm>
            <a:off x="786384" y="4818888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>
                <a:solidFill>
                  <a:srgbClr val="C47F17"/>
                </a:solidFill>
                <a:latin typeface="Noto Sans Thai"/>
                <a:ea typeface="Noto Sans Thai"/>
                <a:cs typeface="Noto Sans Thai"/>
              </a:rPr>
              <a:t>แผนต่อ</a:t>
            </a:r>
            <a:endParaRPr sz="110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1C97FD29-385F-4106-8AEC-396FED4BAC41}"/>
              </a:ext>
            </a:extLst>
          </p:cNvPr>
          <p:cNvSpPr>
            <a:spLocks noGrp="1"/>
          </p:cNvSpPr>
          <p:nvPr/>
        </p:nvSpPr>
        <p:spPr>
          <a:xfrm>
            <a:off x="1764792" y="4800600"/>
            <a:ext cx="9656064" cy="7315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6B4F1D"/>
                </a:solidFill>
                <a:latin typeface="Noto Sans Thai"/>
                <a:ea typeface="Noto Sans Thai"/>
                <a:cs typeface="Noto Sans Thai"/>
              </a:rPr>
              <a:t>งานที่เหลือเป็นงานเก็บรายละเอียดและตรวจคุณภาพ เพื่อให้ระบบพร้อมใช้งานจริงมากขึ้นในโครงการถัดไป</a:t>
            </a:r>
            <a:endParaRPr sz="115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7DF0F9C9-B4F8-464D-8697-7DF48F54DA8D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</p:spPr>
        <p:txBody>
          <a:bodyPr/>
          <a:lstStyle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>
            <a:pPr algn="l">
              <a:buNone/>
            </a:pPr>
            <a:fld id="{F7021451-1387-4CA6-816F-3879F97B5CBC}" type="slidenum">
              <a:rPr b="0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583177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1CAEA63-EF9A-4746-87AC-BE4F0A079650}"/>
              </a:ext>
            </a:extLst>
          </p:cNvPr>
          <p:cNvSpPr>
            <a:spLocks noGrp="1"/>
          </p:cNvSpPr>
          <p:nvPr/>
        </p:nvSpPr>
        <p:spPr>
          <a:xfrm>
            <a:off x="502920" y="393192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8. การแบ่งหน้าที่และผลงานรายบุคคล</a:t>
            </a:r>
            <a:endParaRPr sz="25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0103E87-E14C-472B-949F-33FD503956D5}"/>
              </a:ext>
            </a:extLst>
          </p:cNvPr>
          <p:cNvSpPr>
            <a:spLocks noGrp="1"/>
          </p:cNvSpPr>
          <p:nvPr/>
        </p:nvSpPr>
        <p:spPr>
          <a:xfrm>
            <a:off x="530352" y="923544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ผู้จัดทำรับผิดชอบตั้งแต่การออกแบบระบบ พัฒนาเว็บ เชื่อมฐานข้อมูล และทดสอบเบื้องต้น</a:t>
            </a:r>
            <a:endParaRPr sz="1250"/>
          </a:p>
        </p:txBody>
      </p:sp>
      <p:graphicFrame>
        <p:nvGraphicFramePr>
          <p:cNvPr id="29" name="Table 0"/>
          <p:cNvGraphicFramePr/>
          <p:nvPr/>
        </p:nvGraphicFramePr>
        <p:xfrm>
          <a:off x="640080" y="1554480"/>
          <a:ext cx="10881360" cy="2414016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ชื่อสมาชิก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หน้าที่รับผิดชอบ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สิ่งที่ทำสำเร็จ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หลักฐาน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นายพัฒนกุล เทปิน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วิเคราะห์และออกแบบระบบ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กำหนดขอบเขต ฟังก์ชัน และโครงสร้างข้อมูล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README, โครงหน้าเว็บ, ฐานข้อมูล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นายพัฒนกุล เทปิน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พัฒนาเว็บและฐานข้อมูล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ทำหน้า Login, Dashboard, Knowledge, Documents และ Users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Source Code และหน้าจอระบบ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นายพัฒนกุล เทปิน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เชื่อม AI และทดสอบ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ทำระบบ Chat, บันทึกประวัติ และหน้าสถิติ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API, ผลทดสอบ และการสาธิต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>
            <a:extLst>
              <a:ext uri="{FF2B5EF4-FFF2-40B4-BE49-F238E27FC236}">
                <a16:creationId xmlns:a16="http://schemas.microsoft.com/office/drawing/2014/main" id="{647BE6EB-C146-4B2D-9650-6B0401CF8B27}"/>
              </a:ext>
            </a:extLst>
          </p:cNvPr>
          <p:cNvSpPr>
            <a:spLocks noGrp="1"/>
          </p:cNvSpPr>
          <p:nvPr/>
        </p:nvSpPr>
        <p:spPr>
          <a:xfrm>
            <a:off x="640080" y="4754880"/>
            <a:ext cx="10881360" cy="841248"/>
          </a:xfrm>
          <a:prstGeom prst="roundRect">
            <a:avLst/>
          </a:prstGeom>
          <a:solidFill>
            <a:srgbClr val="FFF8E8"/>
          </a:solidFill>
          <a:ln w="12700">
            <a:solidFill>
              <a:srgbClr val="E7C46B"/>
            </a:solidFill>
            <a:prstDash val="solid"/>
          </a:ln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FDF3446-087A-4C74-AB51-F278DE01F7DB}"/>
              </a:ext>
            </a:extLst>
          </p:cNvPr>
          <p:cNvSpPr>
            <a:spLocks noGrp="1"/>
          </p:cNvSpPr>
          <p:nvPr/>
        </p:nvSpPr>
        <p:spPr>
          <a:xfrm>
            <a:off x="804672" y="4864608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>
                <a:solidFill>
                  <a:srgbClr val="C47F17"/>
                </a:solidFill>
                <a:latin typeface="Noto Sans Thai"/>
                <a:ea typeface="Noto Sans Thai"/>
                <a:cs typeface="Noto Sans Thai"/>
              </a:rPr>
              <a:t>หลักฐาน</a:t>
            </a:r>
            <a:endParaRPr sz="110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CF1997D3-554A-4EE7-AD72-5AFBD9269A7B}"/>
              </a:ext>
            </a:extLst>
          </p:cNvPr>
          <p:cNvSpPr>
            <a:spLocks noGrp="1"/>
          </p:cNvSpPr>
          <p:nvPr/>
        </p:nvSpPr>
        <p:spPr>
          <a:xfrm>
            <a:off x="1783080" y="4846320"/>
            <a:ext cx="9582912" cy="6766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6B4F1D"/>
                </a:solidFill>
                <a:latin typeface="Noto Sans Thai"/>
                <a:ea typeface="Noto Sans Thai"/>
                <a:cs typeface="Noto Sans Thai"/>
              </a:rPr>
              <a:t>สามารถอธิบายโครงสร้างระบบ หน้าที่ของแต่ละหน้า และขั้นตอนการพัฒนาที่ทำไปแล้วได้</a:t>
            </a:r>
            <a:endParaRPr sz="115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23A59F9E-AF63-4108-AB83-A44C9DA85A0E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</p:spPr>
        <p:txBody>
          <a:bodyPr/>
          <a:lstStyle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>
            <a:pPr algn="l">
              <a:buNone/>
            </a:pPr>
            <a:fld id="{F7021451-1387-4CA6-816F-3879F97B5CBC}" type="slidenum">
              <a:rPr b="0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663004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8A971F6-5C3B-432A-9F97-8A279BD66B0A}"/>
              </a:ext>
            </a:extLst>
          </p:cNvPr>
          <p:cNvSpPr>
            <a:spLocks noGrp="1"/>
          </p:cNvSpPr>
          <p:nvPr/>
        </p:nvSpPr>
        <p:spPr>
          <a:xfrm>
            <a:off x="502920" y="393192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9. สรุปผลการดำเนินงานและสาธิต</a:t>
            </a:r>
            <a:endParaRPr sz="25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7371DDA-1C8F-46AB-B383-87CF2A453722}"/>
              </a:ext>
            </a:extLst>
          </p:cNvPr>
          <p:cNvSpPr>
            <a:spLocks noGrp="1"/>
          </p:cNvSpPr>
          <p:nvPr/>
        </p:nvSpPr>
        <p:spPr>
          <a:xfrm>
            <a:off x="530352" y="923544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ระบบพัฒนาไปถึงระดับที่สาธิตการใช้งานหลักได้ และยังเหลืองานทดสอบเพื่อความสมบูรณ์</a:t>
            </a:r>
            <a:endParaRPr sz="125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DAA9385-F442-44EA-9608-488FFCDC3161}"/>
              </a:ext>
            </a:extLst>
          </p:cNvPr>
          <p:cNvSpPr>
            <a:spLocks noGrp="1"/>
          </p:cNvSpPr>
          <p:nvPr/>
        </p:nvSpPr>
        <p:spPr>
          <a:xfrm>
            <a:off x="640080" y="141732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5240" dist="50800" dir="2700000" algn="bl" rotWithShape="0">
              <a:srgbClr val="C7D2DE">
                <a:alpha val="16000"/>
              </a:srgbClr>
            </a:outerShdw>
          </a:effectLst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DFBE3BD-D85C-4263-BA9F-AC7F5F2DF240}"/>
              </a:ext>
            </a:extLst>
          </p:cNvPr>
          <p:cNvSpPr>
            <a:spLocks noGrp="1"/>
          </p:cNvSpPr>
          <p:nvPr/>
        </p:nvSpPr>
        <p:spPr>
          <a:xfrm>
            <a:off x="640080" y="1417320"/>
            <a:ext cx="73152" cy="2148840"/>
          </a:xfrm>
          <a:prstGeom prst="rect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7736DA4-0E16-4688-BBA3-91E4F177EFDE}"/>
              </a:ext>
            </a:extLst>
          </p:cNvPr>
          <p:cNvSpPr>
            <a:spLocks noGrp="1"/>
          </p:cNvSpPr>
          <p:nvPr/>
        </p:nvSpPr>
        <p:spPr>
          <a:xfrm>
            <a:off x="841248" y="1554480"/>
            <a:ext cx="3081528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ระดับความสำเร็จ</a:t>
            </a:r>
            <a:endParaRPr sz="15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EEFCCDD-ADFC-401D-BEAB-415B1D9EB11A}"/>
              </a:ext>
            </a:extLst>
          </p:cNvPr>
          <p:cNvSpPr>
            <a:spLocks noGrp="1"/>
          </p:cNvSpPr>
          <p:nvPr/>
        </p:nvSpPr>
        <p:spPr>
          <a:xfrm>
            <a:off x="841248" y="1947672"/>
            <a:ext cx="3063240" cy="1472184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ความก้าวหน้าปัจจุบัน : 75-80%</a:t>
            </a:r>
            <a:endParaRPr sz="1250"/>
          </a:p>
          <a:p>
            <a:pPr marL="0" indent="0">
              <a:buNone/>
            </a:pPr>
            <a:endParaRPr sz="1250"/>
          </a:p>
          <a:p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ส่วนสำคัญที่ทำสำเร็จ :</a:t>
            </a:r>
            <a:endParaRPr sz="1250"/>
          </a:p>
          <a:p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ล็อกอินและสิทธิ์ผู้ใช้</a:t>
            </a:r>
            <a:endParaRPr sz="1250"/>
          </a:p>
          <a:p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คลังความรู้และเอกสาร</a:t>
            </a:r>
            <a:endParaRPr sz="1250"/>
          </a:p>
          <a:p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แชท AI และสถิติ</a:t>
            </a:r>
            <a:endParaRPr sz="125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0DB8CA28-1A6F-4B00-9566-F740202D8202}"/>
              </a:ext>
            </a:extLst>
          </p:cNvPr>
          <p:cNvSpPr>
            <a:spLocks noGrp="1"/>
          </p:cNvSpPr>
          <p:nvPr/>
        </p:nvSpPr>
        <p:spPr>
          <a:xfrm>
            <a:off x="4370832" y="141732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5240" dist="50800" dir="2700000" algn="bl" rotWithShape="0">
              <a:srgbClr val="C7D2DE">
                <a:alpha val="16000"/>
              </a:srgbClr>
            </a:outerShdw>
          </a:effectLst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B893757-9BE4-49B2-8F09-8CBD994C70C3}"/>
              </a:ext>
            </a:extLst>
          </p:cNvPr>
          <p:cNvSpPr>
            <a:spLocks noGrp="1"/>
          </p:cNvSpPr>
          <p:nvPr/>
        </p:nvSpPr>
        <p:spPr>
          <a:xfrm>
            <a:off x="4370832" y="1417320"/>
            <a:ext cx="73152" cy="214884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4714DBB-CFF8-4D93-90A6-0E10C0A17878}"/>
              </a:ext>
            </a:extLst>
          </p:cNvPr>
          <p:cNvSpPr>
            <a:spLocks noGrp="1"/>
          </p:cNvSpPr>
          <p:nvPr/>
        </p:nvSpPr>
        <p:spPr>
          <a:xfrm>
            <a:off x="4572000" y="1554480"/>
            <a:ext cx="3081528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สิ่งที่พิสูจน์ได้</a:t>
            </a:r>
            <a:endParaRPr sz="15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DE5EEAE-B2BB-4732-9BAF-EA410CFFAEB1}"/>
              </a:ext>
            </a:extLst>
          </p:cNvPr>
          <p:cNvSpPr>
            <a:spLocks noGrp="1"/>
          </p:cNvSpPr>
          <p:nvPr/>
        </p:nvSpPr>
        <p:spPr>
          <a:xfrm>
            <a:off x="4572000" y="1947672"/>
            <a:ext cx="3063240" cy="1472184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ระบบเปิดใช้งานจากหน้าเว็บได้</a:t>
            </a:r>
            <a:endParaRPr sz="1250"/>
          </a:p>
          <a:p>
            <a:pPr marL="0" indent="0">
              <a:buNone/>
            </a:pPr>
            <a:r>
              <a:t>เพิ่มและจัดการข้อมูลได้</a:t>
            </a:r>
            <a:endParaRPr sz="1250"/>
          </a:p>
          <a:p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AI ตอบคำถามจากข้อมูลภายในได้ในระดับเบื้องต้น</a:t>
            </a:r>
            <a:endParaRPr sz="125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C5B00278-CF73-4089-853B-8EA6CA65956F}"/>
              </a:ext>
            </a:extLst>
          </p:cNvPr>
          <p:cNvSpPr>
            <a:spLocks noGrp="1"/>
          </p:cNvSpPr>
          <p:nvPr/>
        </p:nvSpPr>
        <p:spPr>
          <a:xfrm>
            <a:off x="8101584" y="141732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5240" dist="50800" dir="2700000" algn="bl" rotWithShape="0">
              <a:srgbClr val="C7D2DE">
                <a:alpha val="16000"/>
              </a:srgbClr>
            </a:outerShdw>
          </a:effectLst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04759B9A-1657-4EA3-B3ED-4BE3FA961F4E}"/>
              </a:ext>
            </a:extLst>
          </p:cNvPr>
          <p:cNvSpPr>
            <a:spLocks noGrp="1"/>
          </p:cNvSpPr>
          <p:nvPr/>
        </p:nvSpPr>
        <p:spPr>
          <a:xfrm>
            <a:off x="8101584" y="1417320"/>
            <a:ext cx="73152" cy="2148840"/>
          </a:xfrm>
          <a:prstGeom prst="rect">
            <a:avLst/>
          </a:prstGeom>
          <a:solidFill>
            <a:srgbClr val="3178C6"/>
          </a:solidFill>
          <a:ln w="12700">
            <a:solidFill>
              <a:srgbClr val="3178C6"/>
            </a:solidFill>
            <a:prstDash val="solid"/>
          </a:ln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E2273D0-3BEE-4A2A-AEFB-1FE18CEC46C8}"/>
              </a:ext>
            </a:extLst>
          </p:cNvPr>
          <p:cNvSpPr>
            <a:spLocks noGrp="1"/>
          </p:cNvSpPr>
          <p:nvPr/>
        </p:nvSpPr>
        <p:spPr>
          <a:xfrm>
            <a:off x="8302752" y="1554480"/>
            <a:ext cx="3081528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เป้าหมายภาคเรียนหน้า</a:t>
            </a:r>
            <a:endParaRPr sz="15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C562EDA-3CEB-4A91-B5F0-76BE8E483859}"/>
              </a:ext>
            </a:extLst>
          </p:cNvPr>
          <p:cNvSpPr>
            <a:spLocks noGrp="1"/>
          </p:cNvSpPr>
          <p:nvPr/>
        </p:nvSpPr>
        <p:spPr>
          <a:xfrm>
            <a:off x="8302752" y="1947672"/>
            <a:ext cx="3063240" cy="1472184"/>
          </a:xfrm>
          <a:prstGeom prst="rect">
            <a:avLst/>
          </a:prstGeom>
          <a:noFill/>
        </p:spPr>
        <p:txBody>
          <a:bodyPr wrap="square" lIns="254" tIns="254" rIns="254" bIns="254" anchor="t">
            <a:normAutofit/>
          </a:bodyPr>
          <a:lstStyle/>
          <a:p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เพิ่มข้อมูลจริงให้มากขึ้น</a:t>
            </a:r>
            <a:endParaRPr sz="1250"/>
          </a:p>
          <a:p>
            <a:pPr marL="0" indent="0">
              <a:buNone/>
            </a:pPr>
            <a:r>
              <a:t>ทดสอบกับผู้ใช้หลายบทบาท</a:t>
            </a:r>
            <a:endParaRPr sz="1250"/>
          </a:p>
          <a:p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ปรับคำตอบ AI และจัดทำรายงานฉบับสมบูรณ์</a:t>
            </a:r>
            <a:endParaRPr sz="125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6CA1D87E-7DA3-499D-BAFB-FECE4EF79ADD}"/>
              </a:ext>
            </a:extLst>
          </p:cNvPr>
          <p:cNvSpPr>
            <a:spLocks noGrp="1"/>
          </p:cNvSpPr>
          <p:nvPr/>
        </p:nvSpPr>
        <p:spPr>
          <a:xfrm>
            <a:off x="640080" y="3977640"/>
            <a:ext cx="10890504" cy="1051560"/>
          </a:xfrm>
          <a:prstGeom prst="roundRect">
            <a:avLst/>
          </a:prstGeom>
          <a:solidFill>
            <a:srgbClr val="E9F6F6"/>
          </a:solidFill>
          <a:ln w="15240">
            <a:solidFill>
              <a:srgbClr val="B7DEDE"/>
            </a:solidFill>
            <a:prstDash val="solid"/>
          </a:ln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F5430C9-3F85-4C12-B815-6A3D4A029BC1}"/>
              </a:ext>
            </a:extLst>
          </p:cNvPr>
          <p:cNvSpPr>
            <a:spLocks noGrp="1"/>
          </p:cNvSpPr>
          <p:nvPr/>
        </p:nvSpPr>
        <p:spPr>
          <a:xfrm>
            <a:off x="960120" y="4224528"/>
            <a:ext cx="228600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000" b="1">
                <a:solidFill>
                  <a:srgbClr val="1F8A8A"/>
                </a:solidFill>
                <a:latin typeface="Noto Sans Thai"/>
                <a:ea typeface="Noto Sans Thai"/>
                <a:cs typeface="Noto Sans Thai"/>
              </a:rPr>
              <a:t>สาธิตผลงานจริง</a:t>
            </a:r>
            <a:endParaRPr sz="20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9BBF7242-4088-400F-A605-EE773F6A926C}"/>
              </a:ext>
            </a:extLst>
          </p:cNvPr>
          <p:cNvSpPr>
            <a:spLocks noGrp="1"/>
          </p:cNvSpPr>
          <p:nvPr/>
        </p:nvSpPr>
        <p:spPr>
          <a:xfrm>
            <a:off x="3108960" y="4187952"/>
            <a:ext cx="7818120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400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แนะนำการสาธิต: เข้าสู่ระบบ แสดงแดชบอร์ด เพิ่มข้อมูลความรู้ ถาม AI และดูสถิติการใช้งาน</a:t>
            </a:r>
            <a:endParaRPr sz="14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07B7873F-3AF8-4766-8B82-C9D7508FACD4}"/>
              </a:ext>
            </a:extLst>
          </p:cNvPr>
          <p:cNvSpPr>
            <a:spLocks noGrp="1"/>
          </p:cNvSpPr>
          <p:nvPr/>
        </p:nvSpPr>
        <p:spPr>
          <a:xfrm>
            <a:off x="2514600" y="5532120"/>
            <a:ext cx="71323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3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ขอบคุณครับ | คำถามจากคณะกรรมการ</a:t>
            </a:r>
            <a:endParaRPr sz="23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6E7DE9DA-EB4F-4F3D-8A49-3D9E7E30FCE1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</p:spPr>
        <p:txBody>
          <a:bodyPr/>
          <a:lstStyle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>
            <a:pPr algn="l">
              <a:buNone/>
            </a:pPr>
            <a:fld id="{F7021451-1387-4CA6-816F-3879F97B5CBC}" type="slidenum">
              <a:rPr b="0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45882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1925C5D-8308-4A4A-B5B4-B5A345C16BD2}"/>
              </a:ext>
            </a:extLst>
          </p:cNvPr>
          <p:cNvSpPr>
            <a:spLocks noGrp="1"/>
          </p:cNvSpPr>
          <p:nvPr/>
        </p:nvSpPr>
        <p:spPr>
          <a:xfrm>
            <a:off x="502920" y="393192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ข้อควรเตรียมก่อนนำเสนอ</a:t>
            </a:r>
            <a:endParaRPr sz="25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3DC2358-6C6D-4A05-91F5-2C023B356FA0}"/>
              </a:ext>
            </a:extLst>
          </p:cNvPr>
          <p:cNvSpPr>
            <a:spLocks noGrp="1"/>
          </p:cNvSpPr>
          <p:nvPr/>
        </p:nvSpPr>
        <p:spPr>
          <a:xfrm>
            <a:off x="530352" y="923544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เตรียมสาธิตจากระบบจริง พร้อมหลักฐานสำรองเพื่อให้การนำเสนอราบรื่น</a:t>
            </a:r>
            <a:endParaRPr sz="125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5A6B3BF-51A9-444B-8AF8-D0577CEB604A}"/>
              </a:ext>
            </a:extLst>
          </p:cNvPr>
          <p:cNvSpPr>
            <a:spLocks noGrp="1"/>
          </p:cNvSpPr>
          <p:nvPr/>
        </p:nvSpPr>
        <p:spPr>
          <a:xfrm>
            <a:off x="868680" y="1417320"/>
            <a:ext cx="10287000" cy="3474720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sz="1500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เตรียมบัญชีทดลองสำหรับผู้ดูแลระบบและเจ้าหน้าที่</a:t>
            </a:r>
            <a:endParaRPr sz="1500"/>
          </a:p>
          <a:p>
            <a:pPr marL="228600" indent="-228600">
              <a:buSzPct val="100000"/>
              <a:buChar char="•"/>
            </a:pPr>
            <a:r>
              <a:rPr sz="1500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เตรียมข้อมูลความรู้ตัวอย่างอย่างน้อย 5-10 รายการ</a:t>
            </a:r>
            <a:endParaRPr sz="1500"/>
          </a:p>
          <a:p>
            <a:pPr marL="228600" indent="-228600">
              <a:buSzPct val="100000"/>
              <a:buChar char="•"/>
            </a:pPr>
            <a:r>
              <a:rPr sz="1500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เตรียมเอกสารตัวอย่างสำหรับอัปโหลดและค้นหา</a:t>
            </a:r>
            <a:endParaRPr sz="1500"/>
          </a:p>
          <a:p>
            <a:pPr marL="228600" indent="-228600">
              <a:buSzPct val="100000"/>
              <a:buChar char="•"/>
            </a:pPr>
            <a:r>
              <a:rPr sz="1500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เตรียมคำถามภาษาไทยสำหรับทดสอบ AI</a:t>
            </a:r>
            <a:endParaRPr sz="1500"/>
          </a:p>
          <a:p>
            <a:pPr marL="228600" indent="-228600">
              <a:buSzPct val="100000"/>
              <a:buChar char="•"/>
            </a:pPr>
            <a:r>
              <a:rPr sz="1500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เตรียมภาพหน้าจอหรือวิดีโอสำรอง หากอินเทอร์เน็ตหรือระบบมีปัญหา</a:t>
            </a:r>
            <a:endParaRPr sz="1500"/>
          </a:p>
          <a:p>
            <a:pPr marL="228600" indent="-228600">
              <a:buSzPct val="100000"/>
              <a:buChar char="•"/>
            </a:pPr>
            <a:r>
              <a:rPr sz="1500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ทบทวนสิ่งที่ยังเหลืออย่างตรงไปตรงมา เพราะงานยังอยู่ที่ 75-80%</a:t>
            </a:r>
            <a:endParaRPr sz="15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9A78DB5-D0DF-4BEE-81F3-AD3FDA3B4F9D}"/>
              </a:ext>
            </a:extLst>
          </p:cNvPr>
          <p:cNvSpPr>
            <a:spLocks noGrp="1"/>
          </p:cNvSpPr>
          <p:nvPr/>
        </p:nvSpPr>
        <p:spPr>
          <a:xfrm>
            <a:off x="868680" y="5074920"/>
            <a:ext cx="10287000" cy="804672"/>
          </a:xfrm>
          <a:prstGeom prst="roundRect">
            <a:avLst/>
          </a:prstGeom>
          <a:solidFill>
            <a:srgbClr val="FFF2F2"/>
          </a:solidFill>
          <a:ln w="12700">
            <a:solidFill>
              <a:srgbClr val="E2B8B8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AF8BDCA-8BC6-4198-A1F9-8EB79981010A}"/>
              </a:ext>
            </a:extLst>
          </p:cNvPr>
          <p:cNvSpPr>
            <a:spLocks noGrp="1"/>
          </p:cNvSpPr>
          <p:nvPr/>
        </p:nvSpPr>
        <p:spPr>
          <a:xfrm>
            <a:off x="1097280" y="5285232"/>
            <a:ext cx="9829800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400" b="1">
                <a:solidFill>
                  <a:srgbClr val="B64949"/>
                </a:solidFill>
                <a:latin typeface="Noto Sans Thai"/>
                <a:ea typeface="Noto Sans Thai"/>
                <a:cs typeface="Noto Sans Thai"/>
              </a:rPr>
              <a:t>หลักสำคัญ: นำเสนอเฉพาะสิ่งที่ทำได้จริง อธิบายให้เข้าใจง่าย และแสดงแผนพัฒนาต่อให้ครบ 100%</a:t>
            </a:r>
            <a:endParaRPr sz="14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6591CDB7-CACB-46E9-9153-3953ADE2341B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</p:spPr>
        <p:txBody>
          <a:bodyPr/>
          <a:lstStyle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>
            <a:pPr algn="l">
              <a:buNone/>
            </a:pPr>
            <a:fld id="{F7021451-1387-4CA6-816F-3879F97B5CBC}" type="slidenum">
              <a:rPr b="0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19066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Tha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Tha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Tha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Tha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1311</Words>
  <Application>Microsoft Office PowerPoint</Application>
  <DocSecurity>0</DocSecurity>
  <PresentationFormat>แบบจอกว้าง</PresentationFormat>
  <Paragraphs>196</Paragraphs>
  <Slides>11</Slides>
  <Notes>11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2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11</vt:i4>
      </vt:variant>
    </vt:vector>
  </HeadingPairs>
  <TitlesOfParts>
    <vt:vector size="14" baseType="lpstr">
      <vt:lpstr>Arial</vt:lpstr>
      <vt:lpstr>Noto Sans Thai</vt:lpstr>
      <vt:lpstr>Office Theme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พัฒนกุล เทปิน</cp:lastModifiedBy>
  <cp:revision>1</cp:revision>
  <dcterms:created xsi:type="dcterms:W3CDTF">2026-09-14T15:13:30Z</dcterms:created>
  <dcterms:modified xsi:type="dcterms:W3CDTF">2026-09-14T16:58:37Z</dcterms:modified>
</cp:coreProperties>
</file>